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632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Buenos dias. Soy David Quinzanos y presento mi Trabajo de Fin de Master: la busqueda de factores RSA compartidos en los registros de Transparencia de Certificados, mediante el algoritmo Binary Tree Batch GCD. Codirigido por Ana y Domingo Gomez. Idea central: RSA es seguro si sus primos se generan bien; cuando no, dos claves pueden compartir un factor y el GCD lo revela. El reto es detectarlo a gran escala.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Toda la seguridad de la Web se apoya en la confianza en los certificados. Al entrar por HTTPS, TLS cifra la comunicacion, pero antes el navegador comprueba un certificado X.509 firmado por una CA, que vincula el dominio con su clave publica. Para vigilar este ecosistema surge Certificate Transparency: las CAs deben publicar todos los certificados en registros publicos, verificables y de solo anexado. Esos logs son una fuente enorme de claves publicas reales, y ahi nace este trabajo.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RSA ha sido durante decadas el pilar de la criptografia de clave publica. Su modulo es N = p.q, producto de dos primos grandes. La clave publica es (N,e) y la privada se obtiene como inverso de e modulo phi(N), solo calculable si se conoce la factorizacion. La seguridad se basa en que factorizar N es inviable. Pero hay una condicion critica, en el esquema de generacion: p y q deben ser grandes e independientes entre claves. Si esa independencia falla, aparece la vulnerabilidad.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Aqui esta el corazon del problema. Dos claves cuyos modulos comparten, por error de generacion, el mismo primo p: N1=p.q1 y N2=p.q2. Entonces el GCD de los dos modulos es exactamente p. Calcular un GCD es trivial con Euclides. Con p, obtengo q1 y q2 por division y reconstruyo ambas claves privadas. Es decir: si dos modulos comparten un factor, ambas claves quedan comprometidas al instante, sin resolver la factorizacion. En condiciones ideales esto es casi imposible; si ocurre, delata un fallo de generacion.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El problema no es calcular un GCD -es barato-, sino que no sabemos que pares comparten factores. La estrategia ingenua compara todos los pares: M por M-1 partido por 2, que crece de forma cuadratica. Para 54.275 modulos serian casi mil quinientos millones de comparaciones, y es un conjunto pequeno frente a la literatura. La fuerza bruta no escala. De ahi los algoritmos batch GCD, que reorganizan el calculo globalmente.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El punto de partida aplicado es la tesis de Hannah Vage, 2022, Universidad de Bergen. Demuestra que los CT logs son una fuente excelente de claves RSA reales y que auditarlas tiene sentido practico. Recopilo mas de 159 millones de claves RSA-2048 -el mayor conjunto hasta entonces-, encontro ocho claves vulnerables, todas de ZeroSSL, y factorizo 355 claves unicas de mas de 700.000. Lo clave: solo se habia auditado una fraccion minima de los CT logs, y mejorar el algoritmo permitiria investigaciones mucho mayores. Ahi encaja este TFM.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El metodo clasico batch GCD, que usa Vage, evita la comparacion ingenua. Primero multiplica jerarquicamente todos los modulos en un product tree hasta un producto global P. Luego, descendiendo, un remainder tree calcula en cada hoja el residuo de P respecto al modulo, y con el el GCD de cada clave frente al producto de las demas. En lugar de comparar pares uno a uno, el problema se reorganiza con operaciones sobre arboles. Es elegante y funciona, pero escalar tiene un coste.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El metodo clasico no esta exento de limitaciones al escalar. El cuello de botella esta en la cima de los arboles, donde los enteros intermedios son enormes, lo que dispara tiempo y memoria. Por eso hay que dividir en lotes y cruzarlos. Las cifras de la tesis de Vage: su experimento principal se dividio en 13 lotes de unos 12 millones de claves, y requirio del orden de 180 GB de RAM, cerca de 1 TB de disco y unas 88 horas con 30 nucleos. Funciona, pero escalarlo exige recursos considerables. Esto justifica buscar una alternativa.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Esta es la bisagra del trabajo. A la izquierda, Vage aporta el contexto aplicado: CT logs y batch GCD clasico. En el centro, Pelofske (2024) propone la mejora algoritmica, el Binary Tree Batch GCD, que evita el remainder tree. A la derecha, mi TFM se situa entre ambos: tomo el problema aplicado de Vage e incorporo la propuesta de Pelofske, con implementacion propia en C++/GMP, la comparo con Python y la aplico a datos reales. No es solo programar un algoritmo: es continuar una linea de investigacion.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La propuesta de Pelofske, nucleo metodologico, tiene tres fases. Primera: se construye un arbol binario de productos, calculando el GCD entre cada par de ramas hermanas sobre la marcha -lineas azules-. Segunda: todos esos GCD se multiplican en un unico entero B. Tercera: se recorre el conjunto original y, para cada modulo, se calcula gcd con B; si sale algo no trivial, hay un factor compartido. La clave: no construye el remainder tree y realiza solo 2M-1 operaciones de GCD, frente al numero cuadratico ingenuo. Misma complejidad asintotica, menor coste practico.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Los objetivos son cinco. Los dos primeros, de estudio: entender la vulnerabilidad y revisar el batch GCD clasico y el binary tree. Los tres siguientes, marcados a la derecha, son mi aportacion propia: implementar el Binary Tree Batch GCD en C++17/GMP, compararlo con las referencias Python, y aplicarlo a modulos RSA reales de CT-archive. Desarrollo, evaluacion y aplicacion.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Mi implementacion esta en C++17 con GMP para la aritmetica de precision arbitraria, y usa OpenMP opcional para paralelizar la fase final. Como referencias mantengo, sin tocar su logica, las versiones Python del repositorio de Pelofske, lo que permite atribuir las diferencias al algoritmo y la implementacion, no a los datos. Para los datos reales uso OpenSSL, que extrae modulo y emisor de cada certificado, y ct-archive como fuente. Por que C++ y GMP? Por los enteros enormes: necesitamos eficiencia y control de memoria; una decision clave fue liberar los hijos de cada nodo en cuanto dejan de hacer falta.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Para los datos reales construi un flujo completo sobre ct-archive, incremental: descarga un ZIP con reanudacion, extrae los certificados de la carpeta issuer -autoridades e intermediarias-, y con OpenSSL obtiene modulo y emisor en hexadecimal. Despues normaliza y deduplica, porque un mismo modulo aparece muchas veces. Resultado: 54.278 modulos unicos brutos, que tras validacion quedan en 54.275 plausibles. Ese conjunto alimenta al binario en C++. Me centre en issuer porque es un subconjunto manejable que conserva la relacion modulo-emisor.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Antes de los datos reales, valide y medi el algoritmo con experimentos sinteticos, replicando la estructura de Pelofske a escala asumible en un portatil. Combine dos tamanos de modulo, 1024 y 2048 bits; tres valores de claves debiles -2, 100 y 1000-; y tres tamanos de conjunto -2.000, 5.000 y 10.000-. Por cada configuracion, un unico archivo de modulos pasado por los tres algoritmos: remainder tree en Python, binary tree en Python, y mi binary tree en C++/GMP. Este diseno separa dos cosas: cuanta mejora viene del algoritmo -Python vs Python- y cuanta de la implementacion -C++ vs Python.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Resultados sinteticos, el nucleo experimental. Primero, validacion funcional: las tres implementaciones detectan exactamente los mismos modulos vulnerables en todas las configuraciones, y para cada factor comprobe que divide al modulo; mi version en C++ es correcta. Segundo, la grafica de tiempos en escala logaritmica: roja el clasico, azul el binary tree en Python y verde mi C++. El orden se mantiene en los seis paneles. En cifras: el binary tree en Python ya es unas 6,1 veces mas rapido que el clasico -mejora del algoritmo-; y mi C++/GMP es de media 116 veces mas rapido que el clasico, maximo 275 -mejora de implementacion-. Tercero, la memoria: el pico baja a 58 MB, un 55% menos, gracias a liberar nodos. En el caso mayor, pasamos de 866 segundos a menos de 6. El algoritmo mejora al clasico, y C++/GMP mejora claramente a Python, manteniendo la correccion.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Resultados sobre datos reales. De 54.278 modulos brutos, 54.275 plausibles. Al ejecutar el ataque: cero factores compartidos no triviales y cero claves vulnerables, en unos 23,8 segundos. Conviene leerlo con prudencia: no encontrar vulnerabilidades en este subconjunto es un resultado acotado; no permite afirmar nada sobre todos los CT logs ni todo Internet. Limitaciones: conjunto real ceñido a issuer, y parrilla sintetica menor que la del articulo por los recursos de un portatil. Futuro: mas logs y certificados hoja, ejecucion por lotes, distribucion y mas memoria. En conjunto, el TFM aporta una implementacion validada y mas eficiente del Binary Tree Batch GCD y un flujo completo de auditoria sobre CT logs, continuando la linea de Vage y Pelofske. Muchas gracias; quedo a disposicion del tribunal.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Diferencia esencial: el clasico construye product tree y remainder tree. El binario mantiene solo el arbol de productos y calcula los GCD entre hermanos sobre la marcha, acumulandolos en B; al final hace gcd(Ni,B). Misma complejidad asintotica, pero el binario evita el remainder tree y reduce el coste practico, con 2M-1 operaciones de GCD.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Un resultado negativo no es vacio. Valida que toda la cadena -extraccion, normalizacion, deduplicacion y ataque- funciona sobre datos reales. Es evidencia empirica: en este subconjunto no hay factores compartidos, coherente con la teoria, ya que con buena entropia compartir un primo es extraordinariamente improbable. Prudencia: no extrapolamos al total de CT logs. Y deja una linea base reproducible.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Pregunta natural del tribunal. Python vs Python aisla la mejora algoritmica: el binary tree es unas 6,1 veces mas rapido que el clasico. C++ vs binary tree en Python aisla la mejora de implementacion: 18,7 de media, hasta 41. Multiplicando, frente al clasico mi implementacion rinde 116 de media, maximo 275. Parte de la ganancia es del algoritmo de Pelofske y parte, la mayor, del salto a C++/GMP con gestion de memoria.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Modulo plausible es el que supera una validacion basica antes del ataque: descarto los pares -un modulo RSA es producto de dos primos impares- y los de longitud inferior al umbral. De 54.278 brutos solo cayeron 3: dos pares y uno demasiado corto, quedando 54.275. La distribucion muestra que la mayoria son claves de 2048 bits, con presencia menor de 1024, 3072 y 4096.</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Para escalar: ampliar a mas logs e incluir certificados hoja, no solo issuer; procesar por lotes y cruzarlos, como el clasico, para no agotar memoria; paralelizar las fases aun secuenciales, sobre todo la agregacion de B; usar entornos distribuidos o con mas memoria para acercarnos a los cientos de millones de claves; y automatizar el flujo de forma incremental.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Tabla de las 18 configuraciones sinteticas, del CSV de resultados. Por cada combinacion de bits, WEAK y N, los tiempos de las tres implementaciones y el speedup de C++/GMP frente al clasico. El maximo, 275 veces, en 2048 bits, WEAK 2 y N 10.000.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sessions/sweet-focused-cori/mnt/TFM_David_Quinzanos/presentacion/assets/uc-logo.png"/>
          <p:cNvPicPr>
            <a:picLocks noChangeAspect="1"/>
          </p:cNvPicPr>
          <p:nvPr/>
        </p:nvPicPr>
        <p:blipFill>
          <a:blip r:embed="rId3"/>
          <a:stretch>
            <a:fillRect/>
          </a:stretch>
        </p:blipFill>
        <p:spPr>
          <a:xfrm>
            <a:off x="9144000" y="491535"/>
            <a:ext cx="2377440" cy="617129"/>
          </a:xfrm>
          <a:prstGeom prst="rect">
            <a:avLst/>
          </a:prstGeom>
        </p:spPr>
      </p:pic>
      <p:sp>
        <p:nvSpPr>
          <p:cNvPr id="3" name="Text 0"/>
          <p:cNvSpPr/>
          <p:nvPr/>
        </p:nvSpPr>
        <p:spPr>
          <a:xfrm>
            <a:off x="731520" y="566928"/>
            <a:ext cx="6400800" cy="274320"/>
          </a:xfrm>
          <a:prstGeom prst="rect">
            <a:avLst/>
          </a:prstGeom>
          <a:noFill/>
          <a:ln/>
        </p:spPr>
        <p:txBody>
          <a:bodyPr wrap="square" rtlCol="0" anchor="ctr"/>
          <a:lstStyle/>
          <a:p>
            <a:pPr marL="0" indent="0">
              <a:buNone/>
            </a:pPr>
            <a:r>
              <a:rPr lang="en-US" sz="1200" b="1" kern="0" spc="200" dirty="0">
                <a:solidFill>
                  <a:srgbClr val="6B7280"/>
                </a:solidFill>
                <a:latin typeface="Calibri" pitchFamily="34" charset="0"/>
                <a:ea typeface="Calibri" pitchFamily="34" charset="-122"/>
                <a:cs typeface="Calibri" pitchFamily="34" charset="-120"/>
              </a:rPr>
              <a:t>FACULTAD DE CIENCIAS</a:t>
            </a:r>
            <a:endParaRPr lang="en-US" sz="1200" dirty="0"/>
          </a:p>
        </p:txBody>
      </p:sp>
      <p:sp>
        <p:nvSpPr>
          <p:cNvPr id="4" name="Shape 1"/>
          <p:cNvSpPr/>
          <p:nvPr/>
        </p:nvSpPr>
        <p:spPr>
          <a:xfrm>
            <a:off x="777240" y="2121408"/>
            <a:ext cx="182880" cy="182880"/>
          </a:xfrm>
          <a:prstGeom prst="ellipse">
            <a:avLst/>
          </a:prstGeom>
          <a:solidFill>
            <a:srgbClr val="7A1426"/>
          </a:solidFill>
          <a:ln/>
        </p:spPr>
        <p:txBody>
          <a:bodyPr/>
          <a:lstStyle/>
          <a:p>
            <a:endParaRPr lang="en-US"/>
          </a:p>
        </p:txBody>
      </p:sp>
      <p:sp>
        <p:nvSpPr>
          <p:cNvPr id="5" name="Text 2"/>
          <p:cNvSpPr/>
          <p:nvPr/>
        </p:nvSpPr>
        <p:spPr>
          <a:xfrm>
            <a:off x="731520" y="2331720"/>
            <a:ext cx="10607040" cy="1554480"/>
          </a:xfrm>
          <a:prstGeom prst="rect">
            <a:avLst/>
          </a:prstGeom>
          <a:noFill/>
          <a:ln/>
        </p:spPr>
        <p:txBody>
          <a:bodyPr wrap="square" rtlCol="0" anchor="ctr"/>
          <a:lstStyle/>
          <a:p>
            <a:pPr marL="0" indent="0">
              <a:buNone/>
            </a:pPr>
            <a:r>
              <a:rPr lang="en-US" sz="3300" b="1" dirty="0">
                <a:solidFill>
                  <a:srgbClr val="13294B"/>
                </a:solidFill>
                <a:latin typeface="Cambria" pitchFamily="34" charset="0"/>
                <a:ea typeface="Cambria" pitchFamily="34" charset="-122"/>
                <a:cs typeface="Cambria" pitchFamily="34" charset="-120"/>
              </a:rPr>
              <a:t>Busqueda de factores RSA compartidos en los registros de Transparencia de Certificados</a:t>
            </a:r>
            <a:endParaRPr lang="en-US" sz="3300" dirty="0"/>
          </a:p>
        </p:txBody>
      </p:sp>
      <p:sp>
        <p:nvSpPr>
          <p:cNvPr id="6" name="Text 3"/>
          <p:cNvSpPr/>
          <p:nvPr/>
        </p:nvSpPr>
        <p:spPr>
          <a:xfrm>
            <a:off x="731520" y="3886200"/>
            <a:ext cx="10607040" cy="548640"/>
          </a:xfrm>
          <a:prstGeom prst="rect">
            <a:avLst/>
          </a:prstGeom>
          <a:noFill/>
          <a:ln/>
        </p:spPr>
        <p:txBody>
          <a:bodyPr wrap="square" rtlCol="0" anchor="ctr"/>
          <a:lstStyle/>
          <a:p>
            <a:pPr marL="0" indent="0">
              <a:buNone/>
            </a:pPr>
            <a:r>
              <a:rPr lang="en-US" sz="1900" i="1" dirty="0">
                <a:solidFill>
                  <a:srgbClr val="7A1426"/>
                </a:solidFill>
                <a:latin typeface="Cambria" pitchFamily="34" charset="0"/>
                <a:ea typeface="Cambria" pitchFamily="34" charset="-122"/>
                <a:cs typeface="Cambria" pitchFamily="34" charset="-120"/>
              </a:rPr>
              <a:t>Un enfoque basado en el algoritmo Binary Tree Batch GCD</a:t>
            </a:r>
            <a:endParaRPr lang="en-US" sz="1900" dirty="0"/>
          </a:p>
        </p:txBody>
      </p:sp>
      <p:sp>
        <p:nvSpPr>
          <p:cNvPr id="7" name="Text 4"/>
          <p:cNvSpPr/>
          <p:nvPr/>
        </p:nvSpPr>
        <p:spPr>
          <a:xfrm>
            <a:off x="731520" y="4983480"/>
            <a:ext cx="10607040" cy="1280160"/>
          </a:xfrm>
          <a:prstGeom prst="rect">
            <a:avLst/>
          </a:prstGeom>
          <a:noFill/>
          <a:ln/>
        </p:spPr>
        <p:txBody>
          <a:bodyPr wrap="square" rtlCol="0" anchor="ctr"/>
          <a:lstStyle/>
          <a:p>
            <a:pPr marL="0" indent="0">
              <a:spcAft>
                <a:spcPts val="600"/>
              </a:spcAft>
              <a:buNone/>
            </a:pPr>
            <a:r>
              <a:rPr lang="en-US" sz="1800" b="1" dirty="0">
                <a:solidFill>
                  <a:srgbClr val="1F2937"/>
                </a:solidFill>
                <a:latin typeface="Calibri" pitchFamily="34" charset="0"/>
                <a:ea typeface="Calibri" pitchFamily="34" charset="-122"/>
                <a:cs typeface="Calibri" pitchFamily="34" charset="-120"/>
              </a:rPr>
              <a:t>David Quinzanos Saiz</a:t>
            </a:r>
            <a:endParaRPr lang="en-US" sz="1800" dirty="0"/>
          </a:p>
          <a:p>
            <a:pPr marL="0" indent="0">
              <a:spcAft>
                <a:spcPts val="300"/>
              </a:spcAft>
              <a:buNone/>
            </a:pPr>
            <a:r>
              <a:rPr lang="en-US" sz="1350" dirty="0">
                <a:solidFill>
                  <a:srgbClr val="6B7280"/>
                </a:solidFill>
                <a:latin typeface="Calibri" pitchFamily="34" charset="0"/>
                <a:ea typeface="Calibri" pitchFamily="34" charset="-122"/>
                <a:cs typeface="Calibri" pitchFamily="34" charset="-120"/>
              </a:rPr>
              <a:t>Codirectores:  Ana I. Gomez Perez   -   Domingo Gomez Perez</a:t>
            </a:r>
            <a:endParaRPr lang="en-US" sz="1800" dirty="0"/>
          </a:p>
          <a:p>
            <a:pPr marL="0" indent="0">
              <a:buNone/>
            </a:pPr>
            <a:r>
              <a:rPr lang="en-US" sz="1350" dirty="0">
                <a:solidFill>
                  <a:srgbClr val="6B7280"/>
                </a:solidFill>
                <a:latin typeface="Calibri" pitchFamily="34" charset="0"/>
                <a:ea typeface="Calibri" pitchFamily="34" charset="-122"/>
                <a:cs typeface="Calibri" pitchFamily="34" charset="-120"/>
              </a:rPr>
              <a:t>Master Interuniversitario (UC-UIMP) en Data Science   -   Junio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MOTIVACION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La confianza en la Web descansa en los certificados</a:t>
            </a:r>
            <a:endParaRPr lang="en-US" sz="2700" dirty="0"/>
          </a:p>
        </p:txBody>
      </p:sp>
      <p:sp>
        <p:nvSpPr>
          <p:cNvPr id="5" name="Text 3"/>
          <p:cNvSpPr/>
          <p:nvPr/>
        </p:nvSpPr>
        <p:spPr>
          <a:xfrm>
            <a:off x="640080" y="1783080"/>
            <a:ext cx="6400800" cy="420624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HTTPS/TLS protege la comunicacion entre el navegador y el servidor.</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El navegador confia en un certificado X.509 firmado por una autoridad certificadora (CA).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El certificado vincula una identidad (dominio) con una clave publica.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Certificate Transparency obliga a publicar los certificados en logs publicos y auditables.</a:t>
            </a:r>
            <a:endParaRPr lang="en-US" sz="1650" dirty="0"/>
          </a:p>
        </p:txBody>
      </p:sp>
      <p:pic>
        <p:nvPicPr>
          <p:cNvPr id="6" name="Image 0" descr="/sessions/sweet-focused-cori/mnt/TFM_David_Quinzanos/presentacion/assets/tls_handshake.png"/>
          <p:cNvPicPr>
            <a:picLocks noChangeAspect="1"/>
          </p:cNvPicPr>
          <p:nvPr/>
        </p:nvPicPr>
        <p:blipFill>
          <a:blip r:embed="rId3"/>
          <a:stretch>
            <a:fillRect/>
          </a:stretch>
        </p:blipFill>
        <p:spPr>
          <a:xfrm>
            <a:off x="8178330" y="1691640"/>
            <a:ext cx="2845741" cy="4572000"/>
          </a:xfrm>
          <a:prstGeom prst="rect">
            <a:avLst/>
          </a:prstGeom>
        </p:spPr>
      </p:pic>
      <p:sp>
        <p:nvSpPr>
          <p:cNvPr id="7" name="Text 4"/>
          <p:cNvSpPr/>
          <p:nvPr/>
        </p:nvSpPr>
        <p:spPr>
          <a:xfrm>
            <a:off x="7680960" y="6263640"/>
            <a:ext cx="3840480" cy="228600"/>
          </a:xfrm>
          <a:prstGeom prst="rect">
            <a:avLst/>
          </a:prstGeom>
          <a:noFill/>
          <a:ln/>
        </p:spPr>
        <p:txBody>
          <a:bodyPr wrap="square" rtlCol="0" anchor="ctr"/>
          <a:lstStyle/>
          <a:p>
            <a:pPr marL="0" indent="0" algn="ctr">
              <a:buNone/>
            </a:pPr>
            <a:r>
              <a:rPr lang="en-US" sz="950" i="1" dirty="0">
                <a:solidFill>
                  <a:srgbClr val="6B7280"/>
                </a:solidFill>
                <a:latin typeface="Calibri" pitchFamily="34" charset="0"/>
                <a:ea typeface="Calibri" pitchFamily="34" charset="-122"/>
                <a:cs typeface="Calibri" pitchFamily="34" charset="-120"/>
              </a:rPr>
              <a:t>Intercambio TLS (cliente-servidor)</a:t>
            </a:r>
            <a:endParaRPr lang="en-US" sz="950" dirty="0"/>
          </a:p>
        </p:txBody>
      </p:sp>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FUNDAMENTOS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RSA y la importancia de los primos</a:t>
            </a:r>
            <a:endParaRPr lang="en-US" sz="2700" dirty="0"/>
          </a:p>
        </p:txBody>
      </p:sp>
      <p:sp>
        <p:nvSpPr>
          <p:cNvPr id="5" name="Text 3"/>
          <p:cNvSpPr/>
          <p:nvPr/>
        </p:nvSpPr>
        <p:spPr>
          <a:xfrm>
            <a:off x="640080" y="1874520"/>
            <a:ext cx="4846320" cy="2377440"/>
          </a:xfrm>
          <a:prstGeom prst="rect">
            <a:avLst/>
          </a:prstGeom>
          <a:noFill/>
          <a:ln/>
        </p:spPr>
        <p:txBody>
          <a:bodyPr wrap="square" rtlCol="0" anchor="ctr"/>
          <a:lstStyle/>
          <a:p>
            <a:pPr marL="0" indent="0">
              <a:spcAft>
                <a:spcPts val="1000"/>
              </a:spcAft>
              <a:buNone/>
            </a:pPr>
            <a:r>
              <a:rPr lang="en-US" sz="3000" b="1" dirty="0">
                <a:solidFill>
                  <a:srgbClr val="13294B"/>
                </a:solidFill>
                <a:latin typeface="Cambria" pitchFamily="34" charset="0"/>
                <a:ea typeface="Cambria" pitchFamily="34" charset="-122"/>
                <a:cs typeface="Cambria" pitchFamily="34" charset="-120"/>
              </a:rPr>
              <a:t>N = p . q</a:t>
            </a:r>
            <a:endParaRPr lang="en-US" sz="3000" dirty="0"/>
          </a:p>
          <a:p>
            <a:pPr marL="0" indent="0">
              <a:spcAft>
                <a:spcPts val="600"/>
              </a:spcAft>
              <a:buNone/>
            </a:pPr>
            <a:r>
              <a:rPr lang="en-US" sz="1800" dirty="0">
                <a:solidFill>
                  <a:srgbClr val="1F2937"/>
                </a:solidFill>
                <a:latin typeface="Calibri" pitchFamily="34" charset="0"/>
                <a:ea typeface="Calibri" pitchFamily="34" charset="-122"/>
                <a:cs typeface="Calibri" pitchFamily="34" charset="-120"/>
              </a:rPr>
              <a:t>Clave publica:  (N, e)</a:t>
            </a:r>
            <a:endParaRPr lang="en-US" sz="3000" dirty="0"/>
          </a:p>
          <a:p>
            <a:pPr marL="0" indent="0">
              <a:spcAft>
                <a:spcPts val="600"/>
              </a:spcAft>
              <a:buNone/>
            </a:pPr>
            <a:r>
              <a:rPr lang="en-US" sz="1800" dirty="0">
                <a:solidFill>
                  <a:srgbClr val="1F2937"/>
                </a:solidFill>
                <a:latin typeface="Calibri" pitchFamily="34" charset="0"/>
                <a:ea typeface="Calibri" pitchFamily="34" charset="-122"/>
                <a:cs typeface="Calibri" pitchFamily="34" charset="-120"/>
              </a:rPr>
              <a:t>Clave privada:  d = e^-1 (mod phi(N))</a:t>
            </a:r>
            <a:endParaRPr lang="en-US" sz="3000" dirty="0"/>
          </a:p>
          <a:p>
            <a:pPr marL="0" indent="0">
              <a:buNone/>
            </a:pPr>
            <a:r>
              <a:rPr lang="en-US" sz="1350" i="1" dirty="0">
                <a:solidFill>
                  <a:srgbClr val="6B7280"/>
                </a:solidFill>
                <a:latin typeface="Calibri" pitchFamily="34" charset="0"/>
                <a:ea typeface="Calibri" pitchFamily="34" charset="-122"/>
                <a:cs typeface="Calibri" pitchFamily="34" charset="-120"/>
              </a:rPr>
              <a:t>asociada a la factorizacion de N</a:t>
            </a:r>
            <a:endParaRPr lang="en-US" sz="3000" dirty="0"/>
          </a:p>
        </p:txBody>
      </p:sp>
      <p:sp>
        <p:nvSpPr>
          <p:cNvPr id="6" name="Text 4"/>
          <p:cNvSpPr/>
          <p:nvPr/>
        </p:nvSpPr>
        <p:spPr>
          <a:xfrm>
            <a:off x="640080" y="4206240"/>
            <a:ext cx="5029200" cy="1645920"/>
          </a:xfrm>
          <a:prstGeom prst="rect">
            <a:avLst/>
          </a:prstGeom>
          <a:noFill/>
          <a:ln/>
        </p:spPr>
        <p:txBody>
          <a:bodyPr wrap="square" rtlCol="0" anchor="t"/>
          <a:lstStyle/>
          <a:p>
            <a:pPr marL="177800" indent="-1778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p y q deben ser primos grandes, generados de forma aleatoria e independiente.</a:t>
            </a:r>
            <a:endParaRPr lang="en-US" sz="1550" dirty="0"/>
          </a:p>
          <a:p>
            <a:pPr marL="177800" indent="-1778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La seguridad descansa en la dificultad de factorizar N.</a:t>
            </a:r>
            <a:endParaRPr lang="en-US" sz="1550" dirty="0"/>
          </a:p>
        </p:txBody>
      </p:sp>
      <p:pic>
        <p:nvPicPr>
          <p:cNvPr id="7" name="Image 0" descr="/sessions/sweet-focused-cori/mnt/TFM_David_Quinzanos/presentacion/assets/fig_rsa_keygen.png"/>
          <p:cNvPicPr>
            <a:picLocks noChangeAspect="1"/>
          </p:cNvPicPr>
          <p:nvPr/>
        </p:nvPicPr>
        <p:blipFill>
          <a:blip r:embed="rId3"/>
          <a:stretch>
            <a:fillRect/>
          </a:stretch>
        </p:blipFill>
        <p:spPr>
          <a:xfrm>
            <a:off x="5943600" y="2877504"/>
            <a:ext cx="5577840" cy="2108831"/>
          </a:xfrm>
          <a:prstGeom prst="rect">
            <a:avLst/>
          </a:prstGeom>
        </p:spPr>
      </p:pic>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EL PROBLEMA</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Vulnerabilidad: factores primos compartidos</a:t>
            </a:r>
            <a:endParaRPr lang="en-US" sz="2700" dirty="0"/>
          </a:p>
        </p:txBody>
      </p:sp>
      <p:pic>
        <p:nvPicPr>
          <p:cNvPr id="5" name="Image 0" descr="/sessions/sweet-focused-cori/mnt/TFM_David_Quinzanos/presentacion/assets/fig_gcd_compartido.png"/>
          <p:cNvPicPr>
            <a:picLocks noChangeAspect="1"/>
          </p:cNvPicPr>
          <p:nvPr/>
        </p:nvPicPr>
        <p:blipFill>
          <a:blip r:embed="rId3"/>
          <a:stretch>
            <a:fillRect/>
          </a:stretch>
        </p:blipFill>
        <p:spPr>
          <a:xfrm>
            <a:off x="1797148" y="1737360"/>
            <a:ext cx="8567225" cy="3200400"/>
          </a:xfrm>
          <a:prstGeom prst="rect">
            <a:avLst/>
          </a:prstGeom>
        </p:spPr>
      </p:pic>
      <p:sp>
        <p:nvSpPr>
          <p:cNvPr id="6" name="Shape 3"/>
          <p:cNvSpPr/>
          <p:nvPr/>
        </p:nvSpPr>
        <p:spPr>
          <a:xfrm>
            <a:off x="2194560" y="5074920"/>
            <a:ext cx="7772400" cy="1051560"/>
          </a:xfrm>
          <a:prstGeom prst="roundRect">
            <a:avLst>
              <a:gd name="adj" fmla="val 6957"/>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2468880" y="5074920"/>
            <a:ext cx="7223760" cy="1051560"/>
          </a:xfrm>
          <a:prstGeom prst="rect">
            <a:avLst/>
          </a:prstGeom>
          <a:noFill/>
          <a:ln/>
        </p:spPr>
        <p:txBody>
          <a:bodyPr wrap="square" rtlCol="0" anchor="ctr"/>
          <a:lstStyle/>
          <a:p>
            <a:pPr marL="0" indent="0" algn="ctr">
              <a:buNone/>
            </a:pPr>
            <a:r>
              <a:rPr lang="en-US" sz="1600" dirty="0">
                <a:solidFill>
                  <a:srgbClr val="1F2937"/>
                </a:solidFill>
                <a:latin typeface="Calibri" pitchFamily="34" charset="0"/>
                <a:ea typeface="Calibri" pitchFamily="34" charset="-122"/>
                <a:cs typeface="Calibri" pitchFamily="34" charset="-120"/>
              </a:rPr>
              <a:t>Si dos modulos comparten un primo,  </a:t>
            </a:r>
            <a:r>
              <a:rPr lang="en-US" sz="1600" b="1" dirty="0">
                <a:solidFill>
                  <a:srgbClr val="7A1426"/>
                </a:solidFill>
                <a:latin typeface="Calibri" pitchFamily="34" charset="0"/>
                <a:ea typeface="Calibri" pitchFamily="34" charset="-122"/>
                <a:cs typeface="Calibri" pitchFamily="34" charset="-120"/>
              </a:rPr>
              <a:t>gcd(N1, N2) = p</a:t>
            </a:r>
            <a:r>
              <a:rPr lang="en-US" sz="1600" dirty="0">
                <a:solidFill>
                  <a:srgbClr val="1F2937"/>
                </a:solidFill>
                <a:latin typeface="Calibri" pitchFamily="34" charset="0"/>
                <a:ea typeface="Calibri" pitchFamily="34" charset="-122"/>
                <a:cs typeface="Calibri" pitchFamily="34" charset="-120"/>
              </a:rPr>
              <a:t>  recupera el factor y compromete ambas claves, sin factorizar.</a:t>
            </a:r>
            <a:endParaRPr lang="en-US" sz="1600" dirty="0"/>
          </a:p>
        </p:txBody>
      </p:sp>
      <p:sp>
        <p:nvSpPr>
          <p:cNvPr id="8" name="Text 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9" name="Text 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EL RETO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El problema de escala</a:t>
            </a:r>
            <a:endParaRPr lang="en-US" sz="2700" dirty="0"/>
          </a:p>
        </p:txBody>
      </p:sp>
      <p:sp>
        <p:nvSpPr>
          <p:cNvPr id="5" name="Text 3"/>
          <p:cNvSpPr/>
          <p:nvPr/>
        </p:nvSpPr>
        <p:spPr>
          <a:xfrm>
            <a:off x="640080" y="2011680"/>
            <a:ext cx="5486400" cy="1097280"/>
          </a:xfrm>
          <a:prstGeom prst="rect">
            <a:avLst/>
          </a:prstGeom>
          <a:noFill/>
          <a:ln/>
        </p:spPr>
        <p:txBody>
          <a:bodyPr wrap="square" rtlCol="0" anchor="ctr"/>
          <a:lstStyle/>
          <a:p>
            <a:pPr marL="0" indent="0" algn="ctr">
              <a:buNone/>
            </a:pPr>
            <a:r>
              <a:rPr lang="en-US" sz="5400" b="1" dirty="0">
                <a:solidFill>
                  <a:srgbClr val="13294B"/>
                </a:solidFill>
                <a:latin typeface="Cambria" pitchFamily="34" charset="0"/>
                <a:ea typeface="Cambria" pitchFamily="34" charset="-122"/>
                <a:cs typeface="Cambria" pitchFamily="34" charset="-120"/>
              </a:rPr>
              <a:t>M(M-1)/2</a:t>
            </a:r>
            <a:endParaRPr lang="en-US" sz="5400" dirty="0"/>
          </a:p>
        </p:txBody>
      </p:sp>
      <p:sp>
        <p:nvSpPr>
          <p:cNvPr id="6" name="Text 4"/>
          <p:cNvSpPr/>
          <p:nvPr/>
        </p:nvSpPr>
        <p:spPr>
          <a:xfrm>
            <a:off x="640080" y="3154680"/>
            <a:ext cx="5486400" cy="365760"/>
          </a:xfrm>
          <a:prstGeom prst="rect">
            <a:avLst/>
          </a:prstGeom>
          <a:noFill/>
          <a:ln/>
        </p:spPr>
        <p:txBody>
          <a:bodyPr wrap="square" rtlCol="0" anchor="ctr"/>
          <a:lstStyle/>
          <a:p>
            <a:pPr marL="0" indent="0" algn="ctr">
              <a:buNone/>
            </a:pPr>
            <a:r>
              <a:rPr lang="en-US" sz="1500" i="1" dirty="0">
                <a:solidFill>
                  <a:srgbClr val="6B7280"/>
                </a:solidFill>
                <a:latin typeface="Calibri" pitchFamily="34" charset="0"/>
                <a:ea typeface="Calibri" pitchFamily="34" charset="-122"/>
                <a:cs typeface="Calibri" pitchFamily="34" charset="-120"/>
              </a:rPr>
              <a:t>comparaciones para M modulos</a:t>
            </a:r>
            <a:endParaRPr lang="en-US" sz="1500" dirty="0"/>
          </a:p>
        </p:txBody>
      </p:sp>
      <p:sp>
        <p:nvSpPr>
          <p:cNvPr id="7" name="Shape 5"/>
          <p:cNvSpPr/>
          <p:nvPr/>
        </p:nvSpPr>
        <p:spPr>
          <a:xfrm>
            <a:off x="822960" y="3886200"/>
            <a:ext cx="5120640" cy="1737360"/>
          </a:xfrm>
          <a:prstGeom prst="roundRect">
            <a:avLst>
              <a:gd name="adj" fmla="val 4211"/>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8" name="Text 6"/>
          <p:cNvSpPr/>
          <p:nvPr/>
        </p:nvSpPr>
        <p:spPr>
          <a:xfrm>
            <a:off x="1051560" y="4023360"/>
            <a:ext cx="4663440" cy="1554480"/>
          </a:xfrm>
          <a:prstGeom prst="rect">
            <a:avLst/>
          </a:prstGeom>
          <a:noFill/>
          <a:ln/>
        </p:spPr>
        <p:txBody>
          <a:bodyPr wrap="square" rtlCol="0" anchor="t"/>
          <a:lstStyle/>
          <a:p>
            <a:pPr marL="0" indent="0">
              <a:buNone/>
            </a:pPr>
            <a:r>
              <a:rPr lang="en-US" sz="3400" b="1" dirty="0">
                <a:solidFill>
                  <a:srgbClr val="7A1426"/>
                </a:solidFill>
                <a:latin typeface="Cambria" pitchFamily="34" charset="0"/>
                <a:ea typeface="Cambria" pitchFamily="34" charset="-122"/>
                <a:cs typeface="Cambria" pitchFamily="34" charset="-120"/>
              </a:rPr>
              <a:t>54.275</a:t>
            </a:r>
            <a:endParaRPr lang="en-US" sz="3400" dirty="0"/>
          </a:p>
          <a:p>
            <a:pPr marL="0" indent="0">
              <a:spcAft>
                <a:spcPts val="400"/>
              </a:spcAft>
              <a:buNone/>
            </a:pPr>
            <a:r>
              <a:rPr lang="en-US" sz="1300" dirty="0">
                <a:solidFill>
                  <a:srgbClr val="6B7280"/>
                </a:solidFill>
                <a:latin typeface="Calibri" pitchFamily="34" charset="0"/>
                <a:ea typeface="Calibri" pitchFamily="34" charset="-122"/>
                <a:cs typeface="Calibri" pitchFamily="34" charset="-120"/>
              </a:rPr>
              <a:t>modulos reales analizados  -&gt;</a:t>
            </a:r>
            <a:endParaRPr lang="en-US" sz="3400" dirty="0"/>
          </a:p>
          <a:p>
            <a:pPr marL="0" indent="0">
              <a:buNone/>
            </a:pPr>
            <a:r>
              <a:rPr lang="en-US" sz="2200" b="1" dirty="0">
                <a:solidFill>
                  <a:srgbClr val="13294B"/>
                </a:solidFill>
                <a:latin typeface="Cambria" pitchFamily="34" charset="0"/>
                <a:ea typeface="Cambria" pitchFamily="34" charset="-122"/>
                <a:cs typeface="Cambria" pitchFamily="34" charset="-120"/>
              </a:rPr>
              <a:t>1.472.860.675</a:t>
            </a:r>
            <a:endParaRPr lang="en-US" sz="3400" dirty="0"/>
          </a:p>
          <a:p>
            <a:pPr marL="0" indent="0">
              <a:buNone/>
            </a:pPr>
            <a:r>
              <a:rPr lang="en-US" sz="1250" dirty="0">
                <a:solidFill>
                  <a:srgbClr val="6B7280"/>
                </a:solidFill>
                <a:latin typeface="Calibri" pitchFamily="34" charset="0"/>
                <a:ea typeface="Calibri" pitchFamily="34" charset="-122"/>
                <a:cs typeface="Calibri" pitchFamily="34" charset="-120"/>
              </a:rPr>
              <a:t>comparaciones por fuerza bruta</a:t>
            </a:r>
            <a:endParaRPr lang="en-US" sz="3400" dirty="0"/>
          </a:p>
        </p:txBody>
      </p:sp>
      <p:sp>
        <p:nvSpPr>
          <p:cNvPr id="9" name="Text 7"/>
          <p:cNvSpPr/>
          <p:nvPr/>
        </p:nvSpPr>
        <p:spPr>
          <a:xfrm>
            <a:off x="6492240" y="2011680"/>
            <a:ext cx="5029200" cy="3840480"/>
          </a:xfrm>
          <a:prstGeom prst="rect">
            <a:avLst/>
          </a:prstGeom>
          <a:noFill/>
          <a:ln/>
        </p:spPr>
        <p:txBody>
          <a:bodyPr wrap="square" rtlCol="0" anchor="t"/>
          <a:lstStyle/>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Calcular un GCD aislado es barato...</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...pero comparar todos los pares crece de forma cuadratica.</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Inviable para millones de claves.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Necesitamos un enfoque global: batch GCD.</a:t>
            </a:r>
            <a:endParaRPr lang="en-US" sz="1700" dirty="0"/>
          </a:p>
        </p:txBody>
      </p:sp>
      <p:sp>
        <p:nvSpPr>
          <p:cNvPr id="10" name="Text 8"/>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1" name="Text 9"/>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PUNTO DE PARTIDA</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La tesis de Vage: auditar CT logs</a:t>
            </a:r>
            <a:endParaRPr lang="en-US" sz="2700" dirty="0"/>
          </a:p>
        </p:txBody>
      </p:sp>
      <p:sp>
        <p:nvSpPr>
          <p:cNvPr id="5" name="Text 3"/>
          <p:cNvSpPr/>
          <p:nvPr/>
        </p:nvSpPr>
        <p:spPr>
          <a:xfrm>
            <a:off x="640080" y="1783080"/>
            <a:ext cx="6126480" cy="329184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Vage (2022, Univ. de Bergen) toma los CT logs como fuente de claves RSA reales.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Demuestra que auditar esas claves tiene sentido practico y sigue dando resultados.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Deja abierta la idea clave: mejorar el algoritmo permitiria analisis mucho mayores.</a:t>
            </a:r>
            <a:endParaRPr lang="en-US" sz="1650" dirty="0"/>
          </a:p>
        </p:txBody>
      </p:sp>
      <p:sp>
        <p:nvSpPr>
          <p:cNvPr id="6" name="Shape 4"/>
          <p:cNvSpPr/>
          <p:nvPr/>
        </p:nvSpPr>
        <p:spPr>
          <a:xfrm>
            <a:off x="7132320" y="182880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7360920" y="193852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159.377.664</a:t>
            </a:r>
            <a:endParaRPr lang="en-US" sz="2600" dirty="0"/>
          </a:p>
        </p:txBody>
      </p:sp>
      <p:sp>
        <p:nvSpPr>
          <p:cNvPr id="8" name="Text 6"/>
          <p:cNvSpPr/>
          <p:nvPr/>
        </p:nvSpPr>
        <p:spPr>
          <a:xfrm>
            <a:off x="7360920" y="257860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RSA-2048 de CT logs</a:t>
            </a:r>
            <a:endParaRPr lang="en-US" sz="1250" dirty="0"/>
          </a:p>
        </p:txBody>
      </p:sp>
      <p:sp>
        <p:nvSpPr>
          <p:cNvPr id="9" name="Shape 7"/>
          <p:cNvSpPr/>
          <p:nvPr/>
        </p:nvSpPr>
        <p:spPr>
          <a:xfrm>
            <a:off x="7132320" y="324612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7360920" y="335584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8</a:t>
            </a:r>
            <a:endParaRPr lang="en-US" sz="2600" dirty="0"/>
          </a:p>
        </p:txBody>
      </p:sp>
      <p:sp>
        <p:nvSpPr>
          <p:cNvPr id="11" name="Text 9"/>
          <p:cNvSpPr/>
          <p:nvPr/>
        </p:nvSpPr>
        <p:spPr>
          <a:xfrm>
            <a:off x="7360920" y="399592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vulnerables (ZeroSSL)</a:t>
            </a:r>
            <a:endParaRPr lang="en-US" sz="1250" dirty="0"/>
          </a:p>
        </p:txBody>
      </p:sp>
      <p:sp>
        <p:nvSpPr>
          <p:cNvPr id="12" name="Shape 10"/>
          <p:cNvSpPr/>
          <p:nvPr/>
        </p:nvSpPr>
        <p:spPr>
          <a:xfrm>
            <a:off x="7132320" y="4663440"/>
            <a:ext cx="4389120" cy="1234440"/>
          </a:xfrm>
          <a:prstGeom prst="roundRect">
            <a:avLst>
              <a:gd name="adj" fmla="val 592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360920" y="4773168"/>
            <a:ext cx="3931920" cy="640080"/>
          </a:xfrm>
          <a:prstGeom prst="rect">
            <a:avLst/>
          </a:prstGeom>
          <a:noFill/>
          <a:ln/>
        </p:spPr>
        <p:txBody>
          <a:bodyPr wrap="square" rtlCol="0" anchor="ctr"/>
          <a:lstStyle/>
          <a:p>
            <a:pPr marL="0" indent="0">
              <a:buNone/>
            </a:pPr>
            <a:r>
              <a:rPr lang="en-US" sz="2600" b="1" dirty="0">
                <a:solidFill>
                  <a:srgbClr val="7A1426"/>
                </a:solidFill>
                <a:latin typeface="Cambria" pitchFamily="34" charset="0"/>
                <a:ea typeface="Cambria" pitchFamily="34" charset="-122"/>
                <a:cs typeface="Cambria" pitchFamily="34" charset="-120"/>
              </a:rPr>
              <a:t>355</a:t>
            </a:r>
            <a:endParaRPr lang="en-US" sz="2600" dirty="0"/>
          </a:p>
        </p:txBody>
      </p:sp>
      <p:sp>
        <p:nvSpPr>
          <p:cNvPr id="14" name="Text 12"/>
          <p:cNvSpPr/>
          <p:nvPr/>
        </p:nvSpPr>
        <p:spPr>
          <a:xfrm>
            <a:off x="7360920" y="5413248"/>
            <a:ext cx="4023360" cy="41148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claves unicas factorizadas (de &gt;700.000)</a:t>
            </a:r>
            <a:endParaRPr lang="en-US" sz="1250" dirty="0"/>
          </a:p>
        </p:txBody>
      </p:sp>
      <p:sp>
        <p:nvSpPr>
          <p:cNvPr id="15" name="Text 13"/>
          <p:cNvSpPr/>
          <p:nvPr/>
        </p:nvSpPr>
        <p:spPr>
          <a:xfrm>
            <a:off x="640080" y="5943600"/>
            <a:ext cx="731520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Fuente: Vage (2022), Master's thesis, University of Bergen.</a:t>
            </a:r>
            <a:endParaRPr lang="en-US" sz="1000" dirty="0"/>
          </a:p>
        </p:txBody>
      </p:sp>
      <p:sp>
        <p:nvSpPr>
          <p:cNvPr id="16" name="Text 1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7" name="Text 1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ESTADO DEL ARTE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Metodo clasico: product tree + remainder tree</a:t>
            </a:r>
            <a:endParaRPr lang="en-US" sz="2700" dirty="0"/>
          </a:p>
        </p:txBody>
      </p:sp>
      <p:pic>
        <p:nvPicPr>
          <p:cNvPr id="5" name="Image 0" descr="/sessions/sweet-focused-cori/mnt/TFM_David_Quinzanos/presentacion/assets/fig_clasico_tree.png"/>
          <p:cNvPicPr>
            <a:picLocks noChangeAspect="1"/>
          </p:cNvPicPr>
          <p:nvPr/>
        </p:nvPicPr>
        <p:blipFill>
          <a:blip r:embed="rId3"/>
          <a:stretch>
            <a:fillRect/>
          </a:stretch>
        </p:blipFill>
        <p:spPr>
          <a:xfrm>
            <a:off x="1519821" y="1691640"/>
            <a:ext cx="9121877" cy="3657600"/>
          </a:xfrm>
          <a:prstGeom prst="rect">
            <a:avLst/>
          </a:prstGeom>
        </p:spPr>
      </p:pic>
      <p:sp>
        <p:nvSpPr>
          <p:cNvPr id="6" name="Text 3"/>
          <p:cNvSpPr/>
          <p:nvPr/>
        </p:nvSpPr>
        <p:spPr>
          <a:xfrm>
            <a:off x="1097280" y="5486400"/>
            <a:ext cx="9966960" cy="640080"/>
          </a:xfrm>
          <a:prstGeom prst="rect">
            <a:avLst/>
          </a:prstGeom>
          <a:noFill/>
          <a:ln/>
        </p:spPr>
        <p:txBody>
          <a:bodyPr wrap="square" rtlCol="0" anchor="ctr"/>
          <a:lstStyle/>
          <a:p>
            <a:pPr marL="0" indent="0" algn="ctr">
              <a:buNone/>
            </a:pPr>
            <a:r>
              <a:rPr lang="en-US" sz="1450" i="1" dirty="0">
                <a:solidFill>
                  <a:srgbClr val="1F2937"/>
                </a:solidFill>
                <a:latin typeface="Calibri" pitchFamily="34" charset="0"/>
                <a:ea typeface="Calibri" pitchFamily="34" charset="-122"/>
                <a:cs typeface="Calibri" pitchFamily="34" charset="-120"/>
              </a:rPr>
              <a:t>Modulos -&gt; product tree -&gt; producto global P -&gt; remainder tree -&gt; GCD finales.  Evita la comparacion par a par reorganizando el calculo globalmente.</a:t>
            </a:r>
            <a:endParaRPr lang="en-US" sz="1450" dirty="0"/>
          </a:p>
        </p:txBody>
      </p:sp>
      <p:sp>
        <p:nvSpPr>
          <p:cNvPr id="7" name="Text 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8" name="Text 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ESTADO DEL ARTE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Limitaciones del metodo clasico al escalar</a:t>
            </a:r>
            <a:endParaRPr lang="en-US" sz="2700" dirty="0"/>
          </a:p>
        </p:txBody>
      </p:sp>
      <p:sp>
        <p:nvSpPr>
          <p:cNvPr id="5" name="Text 3"/>
          <p:cNvSpPr/>
          <p:nvPr/>
        </p:nvSpPr>
        <p:spPr>
          <a:xfrm>
            <a:off x="640080" y="1783080"/>
            <a:ext cx="6035040" cy="310896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Los enteros intermedios en la cima del arbol son gigantescos.</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Alto coste en tiempo y, sobre todo, en memoria.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Obliga a dividir la coleccion en lotes y cruzarlos entre si.</a:t>
            </a:r>
            <a:endParaRPr lang="en-US" sz="1650" dirty="0"/>
          </a:p>
        </p:txBody>
      </p:sp>
      <p:sp>
        <p:nvSpPr>
          <p:cNvPr id="6" name="Shape 4"/>
          <p:cNvSpPr/>
          <p:nvPr/>
        </p:nvSpPr>
        <p:spPr>
          <a:xfrm>
            <a:off x="6949440" y="182880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5"/>
          <p:cNvSpPr/>
          <p:nvPr/>
        </p:nvSpPr>
        <p:spPr>
          <a:xfrm>
            <a:off x="7040880" y="196596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13</a:t>
            </a:r>
            <a:endParaRPr lang="en-US" sz="2100" dirty="0"/>
          </a:p>
        </p:txBody>
      </p:sp>
      <p:sp>
        <p:nvSpPr>
          <p:cNvPr id="8" name="Text 6"/>
          <p:cNvSpPr/>
          <p:nvPr/>
        </p:nvSpPr>
        <p:spPr>
          <a:xfrm>
            <a:off x="7040880" y="254203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lotes de ~12 M de claves</a:t>
            </a:r>
            <a:endParaRPr lang="en-US" sz="1150" dirty="0"/>
          </a:p>
        </p:txBody>
      </p:sp>
      <p:sp>
        <p:nvSpPr>
          <p:cNvPr id="9" name="Shape 7"/>
          <p:cNvSpPr/>
          <p:nvPr/>
        </p:nvSpPr>
        <p:spPr>
          <a:xfrm>
            <a:off x="9281160" y="182880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9372600" y="196596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~180 GB</a:t>
            </a:r>
            <a:endParaRPr lang="en-US" sz="2100" dirty="0"/>
          </a:p>
        </p:txBody>
      </p:sp>
      <p:sp>
        <p:nvSpPr>
          <p:cNvPr id="11" name="Text 9"/>
          <p:cNvSpPr/>
          <p:nvPr/>
        </p:nvSpPr>
        <p:spPr>
          <a:xfrm>
            <a:off x="9372600" y="254203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memoria RAM</a:t>
            </a:r>
            <a:endParaRPr lang="en-US" sz="1150" dirty="0"/>
          </a:p>
        </p:txBody>
      </p:sp>
      <p:sp>
        <p:nvSpPr>
          <p:cNvPr id="12" name="Shape 10"/>
          <p:cNvSpPr/>
          <p:nvPr/>
        </p:nvSpPr>
        <p:spPr>
          <a:xfrm>
            <a:off x="6949440" y="324612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3" name="Text 11"/>
          <p:cNvSpPr/>
          <p:nvPr/>
        </p:nvSpPr>
        <p:spPr>
          <a:xfrm>
            <a:off x="7040880" y="338328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~1 TB</a:t>
            </a:r>
            <a:endParaRPr lang="en-US" sz="2100" dirty="0"/>
          </a:p>
        </p:txBody>
      </p:sp>
      <p:sp>
        <p:nvSpPr>
          <p:cNvPr id="14" name="Text 12"/>
          <p:cNvSpPr/>
          <p:nvPr/>
        </p:nvSpPr>
        <p:spPr>
          <a:xfrm>
            <a:off x="7040880" y="395935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almacenamiento en disco</a:t>
            </a:r>
            <a:endParaRPr lang="en-US" sz="1150" dirty="0"/>
          </a:p>
        </p:txBody>
      </p:sp>
      <p:sp>
        <p:nvSpPr>
          <p:cNvPr id="15" name="Shape 13"/>
          <p:cNvSpPr/>
          <p:nvPr/>
        </p:nvSpPr>
        <p:spPr>
          <a:xfrm>
            <a:off x="9281160" y="3246120"/>
            <a:ext cx="2148840" cy="1234440"/>
          </a:xfrm>
          <a:prstGeom prst="roundRect">
            <a:avLst>
              <a:gd name="adj" fmla="val 5926"/>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6" name="Text 14"/>
          <p:cNvSpPr/>
          <p:nvPr/>
        </p:nvSpPr>
        <p:spPr>
          <a:xfrm>
            <a:off x="9372600" y="3383280"/>
            <a:ext cx="1965960" cy="548640"/>
          </a:xfrm>
          <a:prstGeom prst="rect">
            <a:avLst/>
          </a:prstGeom>
          <a:noFill/>
          <a:ln/>
        </p:spPr>
        <p:txBody>
          <a:bodyPr wrap="square" rtlCol="0" anchor="ctr"/>
          <a:lstStyle/>
          <a:p>
            <a:pPr marL="0" indent="0" algn="ctr">
              <a:buNone/>
            </a:pPr>
            <a:r>
              <a:rPr lang="en-US" sz="2100" b="1" dirty="0">
                <a:solidFill>
                  <a:srgbClr val="7A1426"/>
                </a:solidFill>
                <a:latin typeface="Cambria" pitchFamily="34" charset="0"/>
                <a:ea typeface="Cambria" pitchFamily="34" charset="-122"/>
                <a:cs typeface="Cambria" pitchFamily="34" charset="-120"/>
              </a:rPr>
              <a:t>~88 h</a:t>
            </a:r>
            <a:endParaRPr lang="en-US" sz="2100" dirty="0"/>
          </a:p>
        </p:txBody>
      </p:sp>
      <p:sp>
        <p:nvSpPr>
          <p:cNvPr id="17" name="Text 15"/>
          <p:cNvSpPr/>
          <p:nvPr/>
        </p:nvSpPr>
        <p:spPr>
          <a:xfrm>
            <a:off x="9372600" y="3959352"/>
            <a:ext cx="1965960" cy="45720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con 30 nucleos</a:t>
            </a:r>
            <a:endParaRPr lang="en-US" sz="1150" dirty="0"/>
          </a:p>
        </p:txBody>
      </p:sp>
      <p:sp>
        <p:nvSpPr>
          <p:cNvPr id="18" name="Text 16"/>
          <p:cNvSpPr/>
          <p:nvPr/>
        </p:nvSpPr>
        <p:spPr>
          <a:xfrm>
            <a:off x="6949440" y="4937760"/>
            <a:ext cx="457200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Ejecucion principal descrita por Vage (2022).</a:t>
            </a:r>
            <a:endParaRPr lang="en-US" sz="1000" dirty="0"/>
          </a:p>
        </p:txBody>
      </p:sp>
      <p:sp>
        <p:nvSpPr>
          <p:cNvPr id="19" name="Text 17"/>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0" name="Text 18"/>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POSICIONAMIENTO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De Vage a Pelofske: donde encaja este TFM</a:t>
            </a:r>
            <a:endParaRPr lang="en-US" sz="2700" dirty="0"/>
          </a:p>
        </p:txBody>
      </p:sp>
      <p:sp>
        <p:nvSpPr>
          <p:cNvPr id="5" name="Shape 3"/>
          <p:cNvSpPr/>
          <p:nvPr/>
        </p:nvSpPr>
        <p:spPr>
          <a:xfrm>
            <a:off x="640080" y="2011680"/>
            <a:ext cx="3429000" cy="3291840"/>
          </a:xfrm>
          <a:prstGeom prst="roundRect">
            <a:avLst>
              <a:gd name="adj" fmla="val 222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640080" y="2240280"/>
            <a:ext cx="3429000" cy="502920"/>
          </a:xfrm>
          <a:prstGeom prst="rect">
            <a:avLst/>
          </a:prstGeom>
          <a:noFill/>
          <a:ln/>
        </p:spPr>
        <p:txBody>
          <a:bodyPr wrap="square" rtlCol="0" anchor="ctr"/>
          <a:lstStyle/>
          <a:p>
            <a:pPr marL="0" indent="0" algn="ctr">
              <a:buNone/>
            </a:pPr>
            <a:r>
              <a:rPr lang="en-US" sz="1900" b="1" dirty="0">
                <a:solidFill>
                  <a:srgbClr val="2B4C8C"/>
                </a:solidFill>
                <a:latin typeface="Cambria" pitchFamily="34" charset="0"/>
                <a:ea typeface="Cambria" pitchFamily="34" charset="-122"/>
                <a:cs typeface="Cambria" pitchFamily="34" charset="-120"/>
              </a:rPr>
              <a:t>Vage (2022)</a:t>
            </a:r>
            <a:endParaRPr lang="en-US" sz="1900" dirty="0"/>
          </a:p>
        </p:txBody>
      </p:sp>
      <p:sp>
        <p:nvSpPr>
          <p:cNvPr id="7" name="Text 5"/>
          <p:cNvSpPr/>
          <p:nvPr/>
        </p:nvSpPr>
        <p:spPr>
          <a:xfrm>
            <a:off x="91440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CT logs como fuente de claves RSA reales</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batch GCD clasico</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Problema aplicado</a:t>
            </a:r>
            <a:endParaRPr lang="en-US" sz="1450" dirty="0"/>
          </a:p>
        </p:txBody>
      </p:sp>
      <p:sp>
        <p:nvSpPr>
          <p:cNvPr id="8" name="Text 6"/>
          <p:cNvSpPr/>
          <p:nvPr/>
        </p:nvSpPr>
        <p:spPr>
          <a:xfrm>
            <a:off x="4050792" y="3291840"/>
            <a:ext cx="502920" cy="548640"/>
          </a:xfrm>
          <a:prstGeom prst="rect">
            <a:avLst/>
          </a:prstGeom>
          <a:noFill/>
          <a:ln/>
        </p:spPr>
        <p:txBody>
          <a:bodyPr wrap="square" rtlCol="0" anchor="ctr"/>
          <a:lstStyle/>
          <a:p>
            <a:pPr marL="0" indent="0" algn="ctr">
              <a:buNone/>
            </a:pPr>
            <a:r>
              <a:rPr lang="en-US" sz="3000" b="1" dirty="0">
                <a:solidFill>
                  <a:srgbClr val="6B7280"/>
                </a:solidFill>
                <a:latin typeface="Calibri" pitchFamily="34" charset="0"/>
                <a:ea typeface="Calibri" pitchFamily="34" charset="-122"/>
                <a:cs typeface="Calibri" pitchFamily="34" charset="-120"/>
              </a:rPr>
              <a:t>&gt;</a:t>
            </a:r>
            <a:endParaRPr lang="en-US" sz="3000" dirty="0"/>
          </a:p>
        </p:txBody>
      </p:sp>
      <p:sp>
        <p:nvSpPr>
          <p:cNvPr id="9" name="Shape 7"/>
          <p:cNvSpPr/>
          <p:nvPr/>
        </p:nvSpPr>
        <p:spPr>
          <a:xfrm>
            <a:off x="4572000" y="2011680"/>
            <a:ext cx="3429000" cy="3291840"/>
          </a:xfrm>
          <a:prstGeom prst="roundRect">
            <a:avLst>
              <a:gd name="adj" fmla="val 222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0" name="Text 8"/>
          <p:cNvSpPr/>
          <p:nvPr/>
        </p:nvSpPr>
        <p:spPr>
          <a:xfrm>
            <a:off x="4572000" y="2240280"/>
            <a:ext cx="3429000" cy="502920"/>
          </a:xfrm>
          <a:prstGeom prst="rect">
            <a:avLst/>
          </a:prstGeom>
          <a:noFill/>
          <a:ln/>
        </p:spPr>
        <p:txBody>
          <a:bodyPr wrap="square" rtlCol="0" anchor="ctr"/>
          <a:lstStyle/>
          <a:p>
            <a:pPr marL="0" indent="0" algn="ctr">
              <a:buNone/>
            </a:pPr>
            <a:r>
              <a:rPr lang="en-US" sz="1900" b="1" dirty="0">
                <a:solidFill>
                  <a:srgbClr val="1F7A4D"/>
                </a:solidFill>
                <a:latin typeface="Cambria" pitchFamily="34" charset="0"/>
                <a:ea typeface="Cambria" pitchFamily="34" charset="-122"/>
                <a:cs typeface="Cambria" pitchFamily="34" charset="-120"/>
              </a:rPr>
              <a:t>Pelofske (2024)</a:t>
            </a:r>
            <a:endParaRPr lang="en-US" sz="1900" dirty="0"/>
          </a:p>
        </p:txBody>
      </p:sp>
      <p:sp>
        <p:nvSpPr>
          <p:cNvPr id="11" name="Text 9"/>
          <p:cNvSpPr/>
          <p:nvPr/>
        </p:nvSpPr>
        <p:spPr>
          <a:xfrm>
            <a:off x="484632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Binary Tree Batch GCD</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Mejora algoritmica</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Evita el remainder tree</a:t>
            </a:r>
            <a:endParaRPr lang="en-US" sz="1450" dirty="0"/>
          </a:p>
        </p:txBody>
      </p:sp>
      <p:sp>
        <p:nvSpPr>
          <p:cNvPr id="12" name="Text 10"/>
          <p:cNvSpPr/>
          <p:nvPr/>
        </p:nvSpPr>
        <p:spPr>
          <a:xfrm>
            <a:off x="7982712" y="3291840"/>
            <a:ext cx="502920" cy="548640"/>
          </a:xfrm>
          <a:prstGeom prst="rect">
            <a:avLst/>
          </a:prstGeom>
          <a:noFill/>
          <a:ln/>
        </p:spPr>
        <p:txBody>
          <a:bodyPr wrap="square" rtlCol="0" anchor="ctr"/>
          <a:lstStyle/>
          <a:p>
            <a:pPr marL="0" indent="0" algn="ctr">
              <a:buNone/>
            </a:pPr>
            <a:r>
              <a:rPr lang="en-US" sz="3000" b="1" dirty="0">
                <a:solidFill>
                  <a:srgbClr val="6B7280"/>
                </a:solidFill>
                <a:latin typeface="Calibri" pitchFamily="34" charset="0"/>
                <a:ea typeface="Calibri" pitchFamily="34" charset="-122"/>
                <a:cs typeface="Calibri" pitchFamily="34" charset="-120"/>
              </a:rPr>
              <a:t>&gt;</a:t>
            </a:r>
            <a:endParaRPr lang="en-US" sz="3000" dirty="0"/>
          </a:p>
        </p:txBody>
      </p:sp>
      <p:sp>
        <p:nvSpPr>
          <p:cNvPr id="13" name="Shape 11"/>
          <p:cNvSpPr/>
          <p:nvPr/>
        </p:nvSpPr>
        <p:spPr>
          <a:xfrm>
            <a:off x="8503920" y="2011680"/>
            <a:ext cx="3429000" cy="3291840"/>
          </a:xfrm>
          <a:prstGeom prst="roundRect">
            <a:avLst>
              <a:gd name="adj" fmla="val 222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4" name="Text 12"/>
          <p:cNvSpPr/>
          <p:nvPr/>
        </p:nvSpPr>
        <p:spPr>
          <a:xfrm>
            <a:off x="8503920" y="2240280"/>
            <a:ext cx="3429000" cy="502920"/>
          </a:xfrm>
          <a:prstGeom prst="rect">
            <a:avLst/>
          </a:prstGeom>
          <a:noFill/>
          <a:ln/>
        </p:spPr>
        <p:txBody>
          <a:bodyPr wrap="square" rtlCol="0" anchor="ctr"/>
          <a:lstStyle/>
          <a:p>
            <a:pPr marL="0" indent="0" algn="ctr">
              <a:buNone/>
            </a:pPr>
            <a:r>
              <a:rPr lang="en-US" sz="1900" b="1" dirty="0">
                <a:solidFill>
                  <a:srgbClr val="7A1426"/>
                </a:solidFill>
                <a:latin typeface="Cambria" pitchFamily="34" charset="0"/>
                <a:ea typeface="Cambria" pitchFamily="34" charset="-122"/>
                <a:cs typeface="Cambria" pitchFamily="34" charset="-120"/>
              </a:rPr>
              <a:t>Este TFM</a:t>
            </a:r>
            <a:endParaRPr lang="en-US" sz="1900" dirty="0"/>
          </a:p>
        </p:txBody>
      </p:sp>
      <p:sp>
        <p:nvSpPr>
          <p:cNvPr id="15" name="Text 13"/>
          <p:cNvSpPr/>
          <p:nvPr/>
        </p:nvSpPr>
        <p:spPr>
          <a:xfrm>
            <a:off x="8778240" y="2926080"/>
            <a:ext cx="2880360" cy="2194560"/>
          </a:xfrm>
          <a:prstGeom prst="rect">
            <a:avLst/>
          </a:prstGeom>
          <a:noFill/>
          <a:ln/>
        </p:spPr>
        <p:txBody>
          <a:bodyPr wrap="square" rtlCol="0" anchor="t"/>
          <a:lstStyle/>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Implementacion C++17/GMP</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Comparacion con Python</a:t>
            </a:r>
            <a:endParaRPr lang="en-US" sz="1450" dirty="0"/>
          </a:p>
          <a:p>
            <a:pPr marL="152400" indent="-152400">
              <a:spcAft>
                <a:spcPts val="1000"/>
              </a:spcAft>
              <a:buSzPct val="100000"/>
              <a:buChar char="•"/>
            </a:pPr>
            <a:r>
              <a:rPr lang="en-US" sz="1450" dirty="0">
                <a:solidFill>
                  <a:srgbClr val="1F2937"/>
                </a:solidFill>
                <a:latin typeface="Calibri" pitchFamily="34" charset="0"/>
                <a:ea typeface="Calibri" pitchFamily="34" charset="-122"/>
                <a:cs typeface="Calibri" pitchFamily="34" charset="-120"/>
              </a:rPr>
              <a:t>Aplicacion a datos reales</a:t>
            </a:r>
            <a:endParaRPr lang="en-US" sz="1450" dirty="0"/>
          </a:p>
        </p:txBody>
      </p:sp>
      <p:sp>
        <p:nvSpPr>
          <p:cNvPr id="16" name="Text 14"/>
          <p:cNvSpPr/>
          <p:nvPr/>
        </p:nvSpPr>
        <p:spPr>
          <a:xfrm>
            <a:off x="640080" y="5577840"/>
            <a:ext cx="10881360" cy="457200"/>
          </a:xfrm>
          <a:prstGeom prst="rect">
            <a:avLst/>
          </a:prstGeom>
          <a:noFill/>
          <a:ln/>
        </p:spPr>
        <p:txBody>
          <a:bodyPr wrap="square" rtlCol="0" anchor="ctr"/>
          <a:lstStyle/>
          <a:p>
            <a:pPr marL="0" indent="0" algn="ctr">
              <a:buNone/>
            </a:pPr>
            <a:r>
              <a:rPr lang="en-US" sz="1450" i="1" dirty="0">
                <a:solidFill>
                  <a:srgbClr val="1F2937"/>
                </a:solidFill>
                <a:latin typeface="Calibri" pitchFamily="34" charset="0"/>
                <a:ea typeface="Calibri" pitchFamily="34" charset="-122"/>
                <a:cs typeface="Calibri" pitchFamily="34" charset="-120"/>
              </a:rPr>
              <a:t>El TFM toma el problema aplicado de Vage e incorpora la mejora algoritmica de Pelofske.</a:t>
            </a:r>
            <a:endParaRPr lang="en-US" sz="1450" dirty="0"/>
          </a:p>
        </p:txBody>
      </p:sp>
      <p:sp>
        <p:nvSpPr>
          <p:cNvPr id="17" name="Text 15"/>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8" name="Text 16"/>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ALGORITMO</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Binary Tree Batch GCD (Pelofske, 2024)</a:t>
            </a:r>
            <a:endParaRPr lang="en-US" sz="2700" dirty="0"/>
          </a:p>
        </p:txBody>
      </p:sp>
      <p:pic>
        <p:nvPicPr>
          <p:cNvPr id="5" name="Image 0" descr="/sessions/sweet-focused-cori/mnt/TFM_David_Quinzanos/presentacion/assets/fig_binary_tree.png"/>
          <p:cNvPicPr>
            <a:picLocks noChangeAspect="1"/>
          </p:cNvPicPr>
          <p:nvPr/>
        </p:nvPicPr>
        <p:blipFill>
          <a:blip r:embed="rId3"/>
          <a:stretch>
            <a:fillRect/>
          </a:stretch>
        </p:blipFill>
        <p:spPr>
          <a:xfrm>
            <a:off x="5486400" y="2319406"/>
            <a:ext cx="6035040" cy="3225029"/>
          </a:xfrm>
          <a:prstGeom prst="rect">
            <a:avLst/>
          </a:prstGeom>
        </p:spPr>
      </p:pic>
      <p:sp>
        <p:nvSpPr>
          <p:cNvPr id="6" name="Text 3"/>
          <p:cNvSpPr/>
          <p:nvPr/>
        </p:nvSpPr>
        <p:spPr>
          <a:xfrm>
            <a:off x="640080" y="1828800"/>
            <a:ext cx="4754880" cy="4023360"/>
          </a:xfrm>
          <a:prstGeom prst="rect">
            <a:avLst/>
          </a:prstGeom>
          <a:noFill/>
          <a:ln/>
        </p:spPr>
        <p:txBody>
          <a:bodyPr wrap="square" rtlCol="0" anchor="t"/>
          <a:lstStyle/>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Arbol binario de productos con gcd en linea.</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Agregacion de los GCD:  B = producto de g_j.</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Comprobacion final:  gcd(N_i, B).</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No construye el remainder tree.</a:t>
            </a:r>
            <a:endParaRPr lang="en-US" sz="1650" dirty="0"/>
          </a:p>
          <a:p>
            <a:pPr marL="177800" indent="-177800">
              <a:spcAft>
                <a:spcPts val="800"/>
              </a:spcAft>
              <a:buSzPct val="100000"/>
              <a:buChar char="•"/>
            </a:pPr>
            <a:r>
              <a:rPr lang="en-US" sz="1650" dirty="0">
                <a:solidFill>
                  <a:srgbClr val="1F2937"/>
                </a:solidFill>
                <a:latin typeface="Calibri" pitchFamily="34" charset="0"/>
                <a:ea typeface="Calibri" pitchFamily="34" charset="-122"/>
                <a:cs typeface="Calibri" pitchFamily="34" charset="-120"/>
              </a:rPr>
              <a:t>Solo 2M - 1 operaciones de gcd.</a:t>
            </a:r>
            <a:endParaRPr lang="en-US" sz="1650" dirty="0"/>
          </a:p>
        </p:txBody>
      </p:sp>
      <p:sp>
        <p:nvSpPr>
          <p:cNvPr id="7" name="Text 4"/>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8" name="Text 5"/>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OBJETIVOS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Objetivos del Trabajo de Fin de Master</a:t>
            </a:r>
            <a:endParaRPr lang="en-US" sz="2700" dirty="0"/>
          </a:p>
        </p:txBody>
      </p:sp>
      <p:sp>
        <p:nvSpPr>
          <p:cNvPr id="5" name="Shape 3"/>
          <p:cNvSpPr/>
          <p:nvPr/>
        </p:nvSpPr>
        <p:spPr>
          <a:xfrm>
            <a:off x="822960" y="1828800"/>
            <a:ext cx="548640" cy="548640"/>
          </a:xfrm>
          <a:prstGeom prst="ellipse">
            <a:avLst/>
          </a:prstGeom>
          <a:solidFill>
            <a:srgbClr val="13294B"/>
          </a:solidFill>
          <a:ln/>
        </p:spPr>
        <p:txBody>
          <a:bodyPr/>
          <a:lstStyle/>
          <a:p>
            <a:endParaRPr lang="en-US"/>
          </a:p>
        </p:txBody>
      </p:sp>
      <p:sp>
        <p:nvSpPr>
          <p:cNvPr id="6" name="Text 4"/>
          <p:cNvSpPr/>
          <p:nvPr/>
        </p:nvSpPr>
        <p:spPr>
          <a:xfrm>
            <a:off x="822960" y="1828800"/>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00200" y="1828800"/>
            <a:ext cx="8503920" cy="548640"/>
          </a:xfrm>
          <a:prstGeom prst="rect">
            <a:avLst/>
          </a:prstGeom>
          <a:noFill/>
          <a:ln/>
        </p:spPr>
        <p:txBody>
          <a:bodyPr wrap="square" rtlCol="0" anchor="ctr"/>
          <a:lstStyle/>
          <a:p>
            <a:pPr marL="0" indent="0">
              <a:buNone/>
            </a:pPr>
            <a:r>
              <a:rPr lang="en-US" sz="1700" dirty="0">
                <a:solidFill>
                  <a:srgbClr val="1F2937"/>
                </a:solidFill>
                <a:latin typeface="Calibri" pitchFamily="34" charset="0"/>
                <a:ea typeface="Calibri" pitchFamily="34" charset="-122"/>
                <a:cs typeface="Calibri" pitchFamily="34" charset="-120"/>
              </a:rPr>
              <a:t>Estudiar la deteccion de factores primos compartidos en RSA.</a:t>
            </a:r>
            <a:endParaRPr lang="en-US" sz="1700" dirty="0"/>
          </a:p>
        </p:txBody>
      </p:sp>
      <p:sp>
        <p:nvSpPr>
          <p:cNvPr id="8" name="Shape 6"/>
          <p:cNvSpPr/>
          <p:nvPr/>
        </p:nvSpPr>
        <p:spPr>
          <a:xfrm>
            <a:off x="822960" y="2670048"/>
            <a:ext cx="548640" cy="548640"/>
          </a:xfrm>
          <a:prstGeom prst="ellipse">
            <a:avLst/>
          </a:prstGeom>
          <a:solidFill>
            <a:srgbClr val="13294B"/>
          </a:solidFill>
          <a:ln/>
        </p:spPr>
        <p:txBody>
          <a:bodyPr/>
          <a:lstStyle/>
          <a:p>
            <a:endParaRPr lang="en-US"/>
          </a:p>
        </p:txBody>
      </p:sp>
      <p:sp>
        <p:nvSpPr>
          <p:cNvPr id="9" name="Text 7"/>
          <p:cNvSpPr/>
          <p:nvPr/>
        </p:nvSpPr>
        <p:spPr>
          <a:xfrm>
            <a:off x="822960" y="2670048"/>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1600200" y="2670048"/>
            <a:ext cx="8503920" cy="548640"/>
          </a:xfrm>
          <a:prstGeom prst="rect">
            <a:avLst/>
          </a:prstGeom>
          <a:noFill/>
          <a:ln/>
        </p:spPr>
        <p:txBody>
          <a:bodyPr wrap="square" rtlCol="0" anchor="ctr"/>
          <a:lstStyle/>
          <a:p>
            <a:pPr marL="0" indent="0">
              <a:buNone/>
            </a:pPr>
            <a:r>
              <a:rPr lang="en-US" sz="1700" dirty="0">
                <a:solidFill>
                  <a:srgbClr val="1F2937"/>
                </a:solidFill>
                <a:latin typeface="Calibri" pitchFamily="34" charset="0"/>
                <a:ea typeface="Calibri" pitchFamily="34" charset="-122"/>
                <a:cs typeface="Calibri" pitchFamily="34" charset="-120"/>
              </a:rPr>
              <a:t>Revisar el batch GCD clasico y el Binary Tree Batch GCD.</a:t>
            </a:r>
            <a:endParaRPr lang="en-US" sz="1700" dirty="0"/>
          </a:p>
        </p:txBody>
      </p:sp>
      <p:sp>
        <p:nvSpPr>
          <p:cNvPr id="11" name="Shape 9"/>
          <p:cNvSpPr/>
          <p:nvPr/>
        </p:nvSpPr>
        <p:spPr>
          <a:xfrm>
            <a:off x="822960" y="3511296"/>
            <a:ext cx="548640" cy="548640"/>
          </a:xfrm>
          <a:prstGeom prst="ellipse">
            <a:avLst/>
          </a:prstGeom>
          <a:solidFill>
            <a:srgbClr val="7A1426"/>
          </a:solidFill>
          <a:ln/>
        </p:spPr>
        <p:txBody>
          <a:bodyPr/>
          <a:lstStyle/>
          <a:p>
            <a:endParaRPr lang="en-US"/>
          </a:p>
        </p:txBody>
      </p:sp>
      <p:sp>
        <p:nvSpPr>
          <p:cNvPr id="12" name="Text 10"/>
          <p:cNvSpPr/>
          <p:nvPr/>
        </p:nvSpPr>
        <p:spPr>
          <a:xfrm>
            <a:off x="822960" y="3511296"/>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1600200" y="3511296"/>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Implementar Binary Tree Batch GCD en C++17/GMP.</a:t>
            </a:r>
            <a:endParaRPr lang="en-US" sz="1700" dirty="0"/>
          </a:p>
        </p:txBody>
      </p:sp>
      <p:sp>
        <p:nvSpPr>
          <p:cNvPr id="14" name="Shape 12"/>
          <p:cNvSpPr/>
          <p:nvPr/>
        </p:nvSpPr>
        <p:spPr>
          <a:xfrm>
            <a:off x="822960" y="4352544"/>
            <a:ext cx="548640" cy="548640"/>
          </a:xfrm>
          <a:prstGeom prst="ellipse">
            <a:avLst/>
          </a:prstGeom>
          <a:solidFill>
            <a:srgbClr val="7A1426"/>
          </a:solidFill>
          <a:ln/>
        </p:spPr>
        <p:txBody>
          <a:bodyPr/>
          <a:lstStyle/>
          <a:p>
            <a:endParaRPr lang="en-US"/>
          </a:p>
        </p:txBody>
      </p:sp>
      <p:sp>
        <p:nvSpPr>
          <p:cNvPr id="15" name="Text 13"/>
          <p:cNvSpPr/>
          <p:nvPr/>
        </p:nvSpPr>
        <p:spPr>
          <a:xfrm>
            <a:off x="822960" y="4352544"/>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6" name="Text 14"/>
          <p:cNvSpPr/>
          <p:nvPr/>
        </p:nvSpPr>
        <p:spPr>
          <a:xfrm>
            <a:off x="1600200" y="4352544"/>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Compararlo con las implementaciones Python de referencia.</a:t>
            </a:r>
            <a:endParaRPr lang="en-US" sz="1700" dirty="0"/>
          </a:p>
        </p:txBody>
      </p:sp>
      <p:sp>
        <p:nvSpPr>
          <p:cNvPr id="17" name="Shape 15"/>
          <p:cNvSpPr/>
          <p:nvPr/>
        </p:nvSpPr>
        <p:spPr>
          <a:xfrm>
            <a:off x="822960" y="5193792"/>
            <a:ext cx="548640" cy="548640"/>
          </a:xfrm>
          <a:prstGeom prst="ellipse">
            <a:avLst/>
          </a:prstGeom>
          <a:solidFill>
            <a:srgbClr val="7A1426"/>
          </a:solidFill>
          <a:ln/>
        </p:spPr>
        <p:txBody>
          <a:bodyPr/>
          <a:lstStyle/>
          <a:p>
            <a:endParaRPr lang="en-US"/>
          </a:p>
        </p:txBody>
      </p:sp>
      <p:sp>
        <p:nvSpPr>
          <p:cNvPr id="18" name="Text 16"/>
          <p:cNvSpPr/>
          <p:nvPr/>
        </p:nvSpPr>
        <p:spPr>
          <a:xfrm>
            <a:off x="822960" y="5193792"/>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9" name="Text 17"/>
          <p:cNvSpPr/>
          <p:nvPr/>
        </p:nvSpPr>
        <p:spPr>
          <a:xfrm>
            <a:off x="1600200" y="5193792"/>
            <a:ext cx="8503920" cy="548640"/>
          </a:xfrm>
          <a:prstGeom prst="rect">
            <a:avLst/>
          </a:prstGeom>
          <a:noFill/>
          <a:ln/>
        </p:spPr>
        <p:txBody>
          <a:bodyPr wrap="square" rtlCol="0" anchor="ctr"/>
          <a:lstStyle/>
          <a:p>
            <a:pPr marL="0" indent="0">
              <a:buNone/>
            </a:pPr>
            <a:r>
              <a:rPr lang="en-US" sz="1700" b="1" dirty="0">
                <a:solidFill>
                  <a:srgbClr val="1F2937"/>
                </a:solidFill>
                <a:latin typeface="Calibri" pitchFamily="34" charset="0"/>
                <a:ea typeface="Calibri" pitchFamily="34" charset="-122"/>
                <a:cs typeface="Calibri" pitchFamily="34" charset="-120"/>
              </a:rPr>
              <a:t>Aplicarlo a modulos RSA reales extraidos de CT-archive.</a:t>
            </a:r>
            <a:endParaRPr lang="en-US" sz="1700" dirty="0"/>
          </a:p>
        </p:txBody>
      </p:sp>
      <p:sp>
        <p:nvSpPr>
          <p:cNvPr id="20" name="Text 18"/>
          <p:cNvSpPr/>
          <p:nvPr/>
        </p:nvSpPr>
        <p:spPr>
          <a:xfrm>
            <a:off x="10332720" y="3657600"/>
            <a:ext cx="1554480" cy="365760"/>
          </a:xfrm>
          <a:prstGeom prst="rect">
            <a:avLst/>
          </a:prstGeom>
          <a:noFill/>
          <a:ln/>
        </p:spPr>
        <p:txBody>
          <a:bodyPr wrap="square" rtlCol="0" anchor="ctr"/>
          <a:lstStyle/>
          <a:p>
            <a:pPr marL="0" indent="0" algn="ctr">
              <a:buNone/>
            </a:pPr>
            <a:r>
              <a:rPr lang="en-US" sz="1100" b="1" dirty="0">
                <a:solidFill>
                  <a:srgbClr val="7A1426"/>
                </a:solidFill>
                <a:latin typeface="Calibri" pitchFamily="34" charset="0"/>
                <a:ea typeface="Calibri" pitchFamily="34" charset="-122"/>
                <a:cs typeface="Calibri" pitchFamily="34" charset="-120"/>
              </a:rPr>
              <a:t>Aportacion propia</a:t>
            </a:r>
            <a:endParaRPr lang="en-US" sz="1100" dirty="0"/>
          </a:p>
        </p:txBody>
      </p:sp>
      <p:sp>
        <p:nvSpPr>
          <p:cNvPr id="21" name="Shape 19"/>
          <p:cNvSpPr/>
          <p:nvPr/>
        </p:nvSpPr>
        <p:spPr>
          <a:xfrm>
            <a:off x="10241280" y="3520440"/>
            <a:ext cx="0" cy="2331720"/>
          </a:xfrm>
          <a:prstGeom prst="line">
            <a:avLst/>
          </a:prstGeom>
          <a:noFill/>
          <a:ln w="31750">
            <a:solidFill>
              <a:srgbClr val="7A1426"/>
            </a:solidFill>
            <a:prstDash val="solid"/>
          </a:ln>
        </p:spPr>
        <p:txBody>
          <a:bodyPr/>
          <a:lstStyle/>
          <a:p>
            <a:endParaRPr lang="en-US"/>
          </a:p>
        </p:txBody>
      </p:sp>
      <p:sp>
        <p:nvSpPr>
          <p:cNvPr id="22" name="Text 2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3" name="Text 21"/>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APORTACION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Implementacion desarrollada</a:t>
            </a:r>
            <a:endParaRPr lang="en-US" sz="2700" dirty="0"/>
          </a:p>
        </p:txBody>
      </p:sp>
      <p:sp>
        <p:nvSpPr>
          <p:cNvPr id="5" name="Shape 3"/>
          <p:cNvSpPr/>
          <p:nvPr/>
        </p:nvSpPr>
        <p:spPr>
          <a:xfrm>
            <a:off x="64008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C++17</a:t>
            </a:r>
            <a:endParaRPr lang="en-US" sz="1800" dirty="0"/>
          </a:p>
        </p:txBody>
      </p:sp>
      <p:sp>
        <p:nvSpPr>
          <p:cNvPr id="7" name="Text 5"/>
          <p:cNvSpPr/>
          <p:nvPr/>
        </p:nvSpPr>
        <p:spPr>
          <a:xfrm>
            <a:off x="82296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Lenguaje principal</a:t>
            </a:r>
            <a:endParaRPr lang="en-US" sz="1250" dirty="0"/>
          </a:p>
        </p:txBody>
      </p:sp>
      <p:sp>
        <p:nvSpPr>
          <p:cNvPr id="8" name="Shape 6"/>
          <p:cNvSpPr/>
          <p:nvPr/>
        </p:nvSpPr>
        <p:spPr>
          <a:xfrm>
            <a:off x="425196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443484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GMP / GMP C++</a:t>
            </a:r>
            <a:endParaRPr lang="en-US" sz="1800" dirty="0"/>
          </a:p>
        </p:txBody>
      </p:sp>
      <p:sp>
        <p:nvSpPr>
          <p:cNvPr id="10" name="Text 8"/>
          <p:cNvSpPr/>
          <p:nvPr/>
        </p:nvSpPr>
        <p:spPr>
          <a:xfrm>
            <a:off x="443484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Aritmetica multiprecision</a:t>
            </a:r>
            <a:endParaRPr lang="en-US" sz="1250" dirty="0"/>
          </a:p>
        </p:txBody>
      </p:sp>
      <p:sp>
        <p:nvSpPr>
          <p:cNvPr id="11" name="Shape 9"/>
          <p:cNvSpPr/>
          <p:nvPr/>
        </p:nvSpPr>
        <p:spPr>
          <a:xfrm>
            <a:off x="7863840" y="182880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046720" y="199339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OpenMP</a:t>
            </a:r>
            <a:endParaRPr lang="en-US" sz="1800" dirty="0"/>
          </a:p>
        </p:txBody>
      </p:sp>
      <p:sp>
        <p:nvSpPr>
          <p:cNvPr id="13" name="Text 11"/>
          <p:cNvSpPr/>
          <p:nvPr/>
        </p:nvSpPr>
        <p:spPr>
          <a:xfrm>
            <a:off x="8046720" y="248716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Paralelizacion opcional</a:t>
            </a:r>
            <a:endParaRPr lang="en-US" sz="1250" dirty="0"/>
          </a:p>
        </p:txBody>
      </p:sp>
      <p:sp>
        <p:nvSpPr>
          <p:cNvPr id="14" name="Shape 12"/>
          <p:cNvSpPr/>
          <p:nvPr/>
        </p:nvSpPr>
        <p:spPr>
          <a:xfrm>
            <a:off x="64008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82296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Python 3.12</a:t>
            </a:r>
            <a:endParaRPr lang="en-US" sz="1800" dirty="0"/>
          </a:p>
        </p:txBody>
      </p:sp>
      <p:sp>
        <p:nvSpPr>
          <p:cNvPr id="16" name="Text 14"/>
          <p:cNvSpPr/>
          <p:nvPr/>
        </p:nvSpPr>
        <p:spPr>
          <a:xfrm>
            <a:off x="82296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Referencias de Pelofske</a:t>
            </a:r>
            <a:endParaRPr lang="en-US" sz="1250" dirty="0"/>
          </a:p>
        </p:txBody>
      </p:sp>
      <p:sp>
        <p:nvSpPr>
          <p:cNvPr id="17" name="Shape 15"/>
          <p:cNvSpPr/>
          <p:nvPr/>
        </p:nvSpPr>
        <p:spPr>
          <a:xfrm>
            <a:off x="425196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443484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OpenSSL</a:t>
            </a:r>
            <a:endParaRPr lang="en-US" sz="1800" dirty="0"/>
          </a:p>
        </p:txBody>
      </p:sp>
      <p:sp>
        <p:nvSpPr>
          <p:cNvPr id="19" name="Text 17"/>
          <p:cNvSpPr/>
          <p:nvPr/>
        </p:nvSpPr>
        <p:spPr>
          <a:xfrm>
            <a:off x="443484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Extraccion de modulos</a:t>
            </a:r>
            <a:endParaRPr lang="en-US" sz="1250" dirty="0"/>
          </a:p>
        </p:txBody>
      </p:sp>
      <p:sp>
        <p:nvSpPr>
          <p:cNvPr id="20" name="Shape 18"/>
          <p:cNvSpPr/>
          <p:nvPr/>
        </p:nvSpPr>
        <p:spPr>
          <a:xfrm>
            <a:off x="7863840" y="3154680"/>
            <a:ext cx="3383280" cy="1143000"/>
          </a:xfrm>
          <a:prstGeom prst="roundRect">
            <a:avLst>
              <a:gd name="adj" fmla="val 6400"/>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21" name="Text 19"/>
          <p:cNvSpPr/>
          <p:nvPr/>
        </p:nvSpPr>
        <p:spPr>
          <a:xfrm>
            <a:off x="8046720" y="3319272"/>
            <a:ext cx="3017520" cy="457200"/>
          </a:xfrm>
          <a:prstGeom prst="rect">
            <a:avLst/>
          </a:prstGeom>
          <a:noFill/>
          <a:ln/>
        </p:spPr>
        <p:txBody>
          <a:bodyPr wrap="square" rtlCol="0" anchor="ctr"/>
          <a:lstStyle/>
          <a:p>
            <a:pPr marL="0" indent="0">
              <a:buNone/>
            </a:pPr>
            <a:r>
              <a:rPr lang="en-US" sz="1800" b="1" dirty="0">
                <a:solidFill>
                  <a:srgbClr val="13294B"/>
                </a:solidFill>
                <a:latin typeface="Cambria" pitchFamily="34" charset="0"/>
                <a:ea typeface="Cambria" pitchFamily="34" charset="-122"/>
                <a:cs typeface="Cambria" pitchFamily="34" charset="-120"/>
              </a:rPr>
              <a:t>ct-archive</a:t>
            </a:r>
            <a:endParaRPr lang="en-US" sz="1800" dirty="0"/>
          </a:p>
        </p:txBody>
      </p:sp>
      <p:sp>
        <p:nvSpPr>
          <p:cNvPr id="22" name="Text 20"/>
          <p:cNvSpPr/>
          <p:nvPr/>
        </p:nvSpPr>
        <p:spPr>
          <a:xfrm>
            <a:off x="8046720" y="3813048"/>
            <a:ext cx="3017520" cy="36576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Fuente de CT logs</a:t>
            </a:r>
            <a:endParaRPr lang="en-US" sz="1250" dirty="0"/>
          </a:p>
        </p:txBody>
      </p:sp>
      <p:sp>
        <p:nvSpPr>
          <p:cNvPr id="23" name="Text 21"/>
          <p:cNvSpPr/>
          <p:nvPr/>
        </p:nvSpPr>
        <p:spPr>
          <a:xfrm>
            <a:off x="640080" y="4663440"/>
            <a:ext cx="10881360" cy="914400"/>
          </a:xfrm>
          <a:prstGeom prst="rect">
            <a:avLst/>
          </a:prstGeom>
          <a:noFill/>
          <a:ln/>
        </p:spPr>
        <p:txBody>
          <a:bodyPr wrap="square" rtlCol="0" anchor="ctr"/>
          <a:lstStyle/>
          <a:p>
            <a:pPr marL="0" indent="0">
              <a:buNone/>
            </a:pPr>
            <a:r>
              <a:rPr lang="en-US" sz="1550" b="1" dirty="0">
                <a:solidFill>
                  <a:srgbClr val="7A1426"/>
                </a:solidFill>
                <a:latin typeface="Calibri" pitchFamily="34" charset="0"/>
                <a:ea typeface="Calibri" pitchFamily="34" charset="-122"/>
                <a:cs typeface="Calibri" pitchFamily="34" charset="-120"/>
              </a:rPr>
              <a:t>Por que C++17/GMP?  </a:t>
            </a:r>
            <a:r>
              <a:rPr lang="en-US" sz="1550" dirty="0">
                <a:solidFill>
                  <a:srgbClr val="1F2937"/>
                </a:solidFill>
                <a:latin typeface="Calibri" pitchFamily="34" charset="0"/>
                <a:ea typeface="Calibri" pitchFamily="34" charset="-122"/>
                <a:cs typeface="Calibri" pitchFamily="34" charset="-120"/>
              </a:rPr>
              <a:t>enteros muy grandes, eficiencia y control de memoria, con liberacion temprana de los nodos del arbol para contener el pico de RAM.</a:t>
            </a:r>
            <a:endParaRPr lang="en-US" sz="1550" dirty="0"/>
          </a:p>
        </p:txBody>
      </p:sp>
      <p:sp>
        <p:nvSpPr>
          <p:cNvPr id="24" name="Text 22"/>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5" name="Text 23"/>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APORTACION</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Flujo con datos reales de CT-archive</a:t>
            </a:r>
            <a:endParaRPr lang="en-US" sz="2700" dirty="0"/>
          </a:p>
        </p:txBody>
      </p:sp>
      <p:pic>
        <p:nvPicPr>
          <p:cNvPr id="5" name="Image 0" descr="/sessions/sweet-focused-cori/mnt/TFM_David_Quinzanos/presentacion/assets/fig_pipeline_ct.png"/>
          <p:cNvPicPr>
            <a:picLocks noChangeAspect="1"/>
          </p:cNvPicPr>
          <p:nvPr/>
        </p:nvPicPr>
        <p:blipFill>
          <a:blip r:embed="rId3"/>
          <a:stretch>
            <a:fillRect/>
          </a:stretch>
        </p:blipFill>
        <p:spPr>
          <a:xfrm>
            <a:off x="731520" y="1721391"/>
            <a:ext cx="6583680" cy="4512498"/>
          </a:xfrm>
          <a:prstGeom prst="rect">
            <a:avLst/>
          </a:prstGeom>
        </p:spPr>
      </p:pic>
      <p:sp>
        <p:nvSpPr>
          <p:cNvPr id="6" name="Shape 3"/>
          <p:cNvSpPr/>
          <p:nvPr/>
        </p:nvSpPr>
        <p:spPr>
          <a:xfrm>
            <a:off x="7772400" y="2194560"/>
            <a:ext cx="3749040" cy="1371600"/>
          </a:xfrm>
          <a:prstGeom prst="roundRect">
            <a:avLst>
              <a:gd name="adj" fmla="val 533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7955280" y="2331720"/>
            <a:ext cx="3383280" cy="1097280"/>
          </a:xfrm>
          <a:prstGeom prst="rect">
            <a:avLst/>
          </a:prstGeom>
          <a:noFill/>
          <a:ln/>
        </p:spPr>
        <p:txBody>
          <a:bodyPr wrap="square" rtlCol="0" anchor="t"/>
          <a:lstStyle/>
          <a:p>
            <a:pPr marL="0" indent="0">
              <a:buNone/>
            </a:pPr>
            <a:r>
              <a:rPr lang="en-US" sz="3000" b="1" dirty="0">
                <a:solidFill>
                  <a:srgbClr val="13294B"/>
                </a:solidFill>
                <a:latin typeface="Cambria" pitchFamily="34" charset="0"/>
                <a:ea typeface="Cambria" pitchFamily="34" charset="-122"/>
                <a:cs typeface="Cambria" pitchFamily="34" charset="-120"/>
              </a:rPr>
              <a:t>54.278</a:t>
            </a:r>
            <a:endParaRPr lang="en-US" sz="3000" dirty="0"/>
          </a:p>
          <a:p>
            <a:pPr marL="0" indent="0">
              <a:buNone/>
            </a:pPr>
            <a:r>
              <a:rPr lang="en-US" sz="1300" dirty="0">
                <a:solidFill>
                  <a:srgbClr val="6B7280"/>
                </a:solidFill>
                <a:latin typeface="Calibri" pitchFamily="34" charset="0"/>
                <a:ea typeface="Calibri" pitchFamily="34" charset="-122"/>
                <a:cs typeface="Calibri" pitchFamily="34" charset="-120"/>
              </a:rPr>
              <a:t>modulos unicos brutos</a:t>
            </a:r>
            <a:endParaRPr lang="en-US" sz="3000" dirty="0"/>
          </a:p>
        </p:txBody>
      </p:sp>
      <p:sp>
        <p:nvSpPr>
          <p:cNvPr id="8" name="Shape 5"/>
          <p:cNvSpPr/>
          <p:nvPr/>
        </p:nvSpPr>
        <p:spPr>
          <a:xfrm>
            <a:off x="7772400" y="3794760"/>
            <a:ext cx="3749040" cy="1371600"/>
          </a:xfrm>
          <a:prstGeom prst="roundRect">
            <a:avLst>
              <a:gd name="adj" fmla="val 5333"/>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7955280" y="3931920"/>
            <a:ext cx="3383280" cy="1097280"/>
          </a:xfrm>
          <a:prstGeom prst="rect">
            <a:avLst/>
          </a:prstGeom>
          <a:noFill/>
          <a:ln/>
        </p:spPr>
        <p:txBody>
          <a:bodyPr wrap="square" rtlCol="0" anchor="t"/>
          <a:lstStyle/>
          <a:p>
            <a:pPr marL="0" indent="0">
              <a:buNone/>
            </a:pPr>
            <a:r>
              <a:rPr lang="en-US" sz="3000" b="1" dirty="0">
                <a:solidFill>
                  <a:srgbClr val="7A1426"/>
                </a:solidFill>
                <a:latin typeface="Cambria" pitchFamily="34" charset="0"/>
                <a:ea typeface="Cambria" pitchFamily="34" charset="-122"/>
                <a:cs typeface="Cambria" pitchFamily="34" charset="-120"/>
              </a:rPr>
              <a:t>54.275</a:t>
            </a:r>
            <a:endParaRPr lang="en-US" sz="3000" dirty="0"/>
          </a:p>
          <a:p>
            <a:pPr marL="0" indent="0">
              <a:buNone/>
            </a:pPr>
            <a:r>
              <a:rPr lang="en-US" sz="1300" dirty="0">
                <a:solidFill>
                  <a:srgbClr val="6B7280"/>
                </a:solidFill>
                <a:latin typeface="Calibri" pitchFamily="34" charset="0"/>
                <a:ea typeface="Calibri" pitchFamily="34" charset="-122"/>
                <a:cs typeface="Calibri" pitchFamily="34" charset="-120"/>
              </a:rPr>
              <a:t>modulos RSA plausibles</a:t>
            </a:r>
            <a:endParaRPr lang="en-US" sz="3000" dirty="0"/>
          </a:p>
        </p:txBody>
      </p:sp>
      <p:sp>
        <p:nvSpPr>
          <p:cNvPr id="10" name="Text 7"/>
          <p:cNvSpPr/>
          <p:nvPr/>
        </p:nvSpPr>
        <p:spPr>
          <a:xfrm>
            <a:off x="7772400" y="5349240"/>
            <a:ext cx="3749040" cy="5486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Foco en certificados de issuer/ (CAs e intermediarias).</a:t>
            </a:r>
            <a:endParaRPr lang="en-US" sz="1200" dirty="0"/>
          </a:p>
        </p:txBody>
      </p:sp>
      <p:sp>
        <p:nvSpPr>
          <p:cNvPr id="11" name="Text 8"/>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2" name="Text 9"/>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Experimentos sinteticos: diseno</a:t>
            </a:r>
            <a:endParaRPr lang="en-US" sz="2700" dirty="0"/>
          </a:p>
        </p:txBody>
      </p:sp>
      <p:sp>
        <p:nvSpPr>
          <p:cNvPr id="5" name="Shape 3"/>
          <p:cNvSpPr/>
          <p:nvPr/>
        </p:nvSpPr>
        <p:spPr>
          <a:xfrm>
            <a:off x="640080" y="182880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68680" y="1947672"/>
            <a:ext cx="4663440" cy="365760"/>
          </a:xfrm>
          <a:prstGeom prst="rect">
            <a:avLst/>
          </a:prstGeom>
          <a:noFill/>
          <a:ln/>
        </p:spPr>
        <p:txBody>
          <a:bodyPr wrap="square" rtlCol="0" anchor="ctr"/>
          <a:lstStyle/>
          <a:p>
            <a:pPr marL="0" indent="0">
              <a:buNone/>
            </a:pPr>
            <a:r>
              <a:rPr lang="en-US" sz="1350" dirty="0" err="1">
                <a:solidFill>
                  <a:srgbClr val="6B7280"/>
                </a:solidFill>
                <a:latin typeface="Calibri" pitchFamily="34" charset="0"/>
                <a:ea typeface="Calibri" pitchFamily="34" charset="-122"/>
                <a:cs typeface="Calibri" pitchFamily="34" charset="-120"/>
              </a:rPr>
              <a:t>Tamaños</a:t>
            </a:r>
            <a:r>
              <a:rPr lang="en-US" sz="1350" dirty="0">
                <a:solidFill>
                  <a:srgbClr val="6B7280"/>
                </a:solidFill>
                <a:latin typeface="Calibri" pitchFamily="34" charset="0"/>
                <a:ea typeface="Calibri" pitchFamily="34" charset="-122"/>
                <a:cs typeface="Calibri" pitchFamily="34" charset="-120"/>
              </a:rPr>
              <a:t> de </a:t>
            </a:r>
            <a:r>
              <a:rPr lang="en-US" sz="1350" dirty="0" err="1">
                <a:solidFill>
                  <a:srgbClr val="6B7280"/>
                </a:solidFill>
                <a:latin typeface="Calibri" pitchFamily="34" charset="0"/>
                <a:ea typeface="Calibri" pitchFamily="34" charset="-122"/>
                <a:cs typeface="Calibri" pitchFamily="34" charset="-120"/>
              </a:rPr>
              <a:t>los</a:t>
            </a:r>
            <a:r>
              <a:rPr lang="en-US" sz="1350" dirty="0">
                <a:solidFill>
                  <a:srgbClr val="6B7280"/>
                </a:solidFill>
                <a:latin typeface="Calibri" pitchFamily="34" charset="0"/>
                <a:ea typeface="Calibri" pitchFamily="34" charset="-122"/>
                <a:cs typeface="Calibri" pitchFamily="34" charset="-120"/>
              </a:rPr>
              <a:t> </a:t>
            </a:r>
            <a:r>
              <a:rPr lang="en-US" sz="1350" dirty="0" err="1">
                <a:solidFill>
                  <a:srgbClr val="6B7280"/>
                </a:solidFill>
                <a:latin typeface="Calibri" pitchFamily="34" charset="0"/>
                <a:ea typeface="Calibri" pitchFamily="34" charset="-122"/>
                <a:cs typeface="Calibri" pitchFamily="34" charset="-120"/>
              </a:rPr>
              <a:t>módulos</a:t>
            </a:r>
            <a:endParaRPr lang="en-US" sz="1350" dirty="0"/>
          </a:p>
        </p:txBody>
      </p:sp>
      <p:sp>
        <p:nvSpPr>
          <p:cNvPr id="7" name="Text 5"/>
          <p:cNvSpPr/>
          <p:nvPr/>
        </p:nvSpPr>
        <p:spPr>
          <a:xfrm>
            <a:off x="868680" y="230428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1024 y 2048 bits</a:t>
            </a:r>
            <a:endParaRPr lang="en-US" sz="1900" dirty="0"/>
          </a:p>
        </p:txBody>
      </p:sp>
      <p:sp>
        <p:nvSpPr>
          <p:cNvPr id="8" name="Shape 6"/>
          <p:cNvSpPr/>
          <p:nvPr/>
        </p:nvSpPr>
        <p:spPr>
          <a:xfrm>
            <a:off x="640080" y="306324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868680" y="3182112"/>
            <a:ext cx="4663440" cy="36576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Nº de claves </a:t>
            </a:r>
            <a:r>
              <a:rPr lang="en-US" sz="1350" dirty="0" err="1">
                <a:solidFill>
                  <a:srgbClr val="6B7280"/>
                </a:solidFill>
                <a:latin typeface="Calibri" pitchFamily="34" charset="0"/>
                <a:ea typeface="Calibri" pitchFamily="34" charset="-122"/>
                <a:cs typeface="Calibri" pitchFamily="34" charset="-120"/>
              </a:rPr>
              <a:t>débiles</a:t>
            </a:r>
            <a:r>
              <a:rPr lang="en-US" sz="1350" dirty="0">
                <a:solidFill>
                  <a:srgbClr val="6B7280"/>
                </a:solidFill>
                <a:latin typeface="Calibri" pitchFamily="34" charset="0"/>
                <a:ea typeface="Calibri" pitchFamily="34" charset="-122"/>
                <a:cs typeface="Calibri" pitchFamily="34" charset="-120"/>
              </a:rPr>
              <a:t> (WEAK)</a:t>
            </a:r>
            <a:endParaRPr lang="en-US" sz="1350" dirty="0"/>
          </a:p>
        </p:txBody>
      </p:sp>
      <p:sp>
        <p:nvSpPr>
          <p:cNvPr id="10" name="Text 8"/>
          <p:cNvSpPr/>
          <p:nvPr/>
        </p:nvSpPr>
        <p:spPr>
          <a:xfrm>
            <a:off x="868680" y="353872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2, 100, 1000</a:t>
            </a:r>
            <a:endParaRPr lang="en-US" sz="1900" dirty="0"/>
          </a:p>
        </p:txBody>
      </p:sp>
      <p:sp>
        <p:nvSpPr>
          <p:cNvPr id="11" name="Shape 9"/>
          <p:cNvSpPr/>
          <p:nvPr/>
        </p:nvSpPr>
        <p:spPr>
          <a:xfrm>
            <a:off x="640080" y="4297680"/>
            <a:ext cx="5120640" cy="1051560"/>
          </a:xfrm>
          <a:prstGeom prst="roundRect">
            <a:avLst>
              <a:gd name="adj" fmla="val 6957"/>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68680" y="4416552"/>
            <a:ext cx="4663440" cy="365760"/>
          </a:xfrm>
          <a:prstGeom prst="rect">
            <a:avLst/>
          </a:prstGeom>
          <a:noFill/>
          <a:ln/>
        </p:spPr>
        <p:txBody>
          <a:bodyPr wrap="square"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Tamano del conjunto (N)</a:t>
            </a:r>
            <a:endParaRPr lang="en-US" sz="1350" dirty="0"/>
          </a:p>
        </p:txBody>
      </p:sp>
      <p:sp>
        <p:nvSpPr>
          <p:cNvPr id="13" name="Text 11"/>
          <p:cNvSpPr/>
          <p:nvPr/>
        </p:nvSpPr>
        <p:spPr>
          <a:xfrm>
            <a:off x="868680" y="4773168"/>
            <a:ext cx="4663440" cy="457200"/>
          </a:xfrm>
          <a:prstGeom prst="rect">
            <a:avLst/>
          </a:prstGeom>
          <a:noFill/>
          <a:ln/>
        </p:spPr>
        <p:txBody>
          <a:bodyPr wrap="square" rtlCol="0" anchor="ctr"/>
          <a:lstStyle/>
          <a:p>
            <a:pPr marL="0" indent="0">
              <a:buNone/>
            </a:pPr>
            <a:r>
              <a:rPr lang="en-US" sz="1900" b="1" dirty="0">
                <a:solidFill>
                  <a:srgbClr val="13294B"/>
                </a:solidFill>
                <a:latin typeface="Cambria" pitchFamily="34" charset="0"/>
                <a:ea typeface="Cambria" pitchFamily="34" charset="-122"/>
                <a:cs typeface="Cambria" pitchFamily="34" charset="-120"/>
              </a:rPr>
              <a:t>2000, 5000, 10000</a:t>
            </a:r>
            <a:endParaRPr lang="en-US" sz="1900" dirty="0"/>
          </a:p>
        </p:txBody>
      </p:sp>
      <p:sp>
        <p:nvSpPr>
          <p:cNvPr id="14" name="Text 12"/>
          <p:cNvSpPr/>
          <p:nvPr/>
        </p:nvSpPr>
        <p:spPr>
          <a:xfrm>
            <a:off x="6126480" y="1828800"/>
            <a:ext cx="5394960" cy="411480"/>
          </a:xfrm>
          <a:prstGeom prst="rect">
            <a:avLst/>
          </a:prstGeom>
          <a:noFill/>
          <a:ln/>
        </p:spPr>
        <p:txBody>
          <a:bodyPr wrap="square" rtlCol="0" anchor="ctr"/>
          <a:lstStyle/>
          <a:p>
            <a:pPr marL="0" indent="0">
              <a:buNone/>
            </a:pPr>
            <a:r>
              <a:rPr lang="en-US" sz="1700" b="1" dirty="0">
                <a:solidFill>
                  <a:srgbClr val="7A1426"/>
                </a:solidFill>
                <a:latin typeface="Cambria" pitchFamily="34" charset="0"/>
                <a:ea typeface="Cambria" pitchFamily="34" charset="-122"/>
                <a:cs typeface="Cambria" pitchFamily="34" charset="-120"/>
              </a:rPr>
              <a:t>Tres algoritmos sobre la misma entrada</a:t>
            </a:r>
            <a:endParaRPr lang="en-US" sz="1700" dirty="0"/>
          </a:p>
        </p:txBody>
      </p:sp>
      <p:sp>
        <p:nvSpPr>
          <p:cNvPr id="15" name="Text 13"/>
          <p:cNvSpPr/>
          <p:nvPr/>
        </p:nvSpPr>
        <p:spPr>
          <a:xfrm>
            <a:off x="6126480" y="2331720"/>
            <a:ext cx="5394960" cy="182880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Remainder Tree Batch GCD (Python).</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Tree Batch GCD (Python).</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Tree Batch GCD (C++/GMP), propia.</a:t>
            </a:r>
            <a:endParaRPr lang="en-US" sz="1600" dirty="0"/>
          </a:p>
        </p:txBody>
      </p:sp>
      <p:sp>
        <p:nvSpPr>
          <p:cNvPr id="16" name="Shape 14"/>
          <p:cNvSpPr/>
          <p:nvPr/>
        </p:nvSpPr>
        <p:spPr>
          <a:xfrm>
            <a:off x="6126480" y="4343400"/>
            <a:ext cx="5394960" cy="1280160"/>
          </a:xfrm>
          <a:prstGeom prst="roundRect">
            <a:avLst>
              <a:gd name="adj" fmla="val 5714"/>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7" name="Text 15"/>
          <p:cNvSpPr/>
          <p:nvPr/>
        </p:nvSpPr>
        <p:spPr>
          <a:xfrm>
            <a:off x="6355080" y="4343400"/>
            <a:ext cx="4937760" cy="1280160"/>
          </a:xfrm>
          <a:prstGeom prst="rect">
            <a:avLst/>
          </a:prstGeom>
          <a:noFill/>
          <a:ln/>
        </p:spPr>
        <p:txBody>
          <a:bodyPr wrap="square" rtlCol="0" anchor="ctr"/>
          <a:lstStyle/>
          <a:p>
            <a:pPr marL="0" indent="0">
              <a:buNone/>
            </a:pPr>
            <a:r>
              <a:rPr lang="en-US" sz="1450" b="1" dirty="0">
                <a:solidFill>
                  <a:srgbClr val="7A1426"/>
                </a:solidFill>
                <a:latin typeface="Calibri" pitchFamily="34" charset="0"/>
                <a:ea typeface="Calibri" pitchFamily="34" charset="-122"/>
                <a:cs typeface="Calibri" pitchFamily="34" charset="-120"/>
              </a:rPr>
              <a:t>Permite separar dos efectos:  </a:t>
            </a:r>
            <a:r>
              <a:rPr lang="en-US" sz="1450" dirty="0">
                <a:solidFill>
                  <a:srgbClr val="1F2937"/>
                </a:solidFill>
                <a:latin typeface="Calibri" pitchFamily="34" charset="0"/>
                <a:ea typeface="Calibri" pitchFamily="34" charset="-122"/>
                <a:cs typeface="Calibri" pitchFamily="34" charset="-120"/>
              </a:rPr>
              <a:t>mejora algoritmica (Python vs Python) y mejora de implementacion (C++ vs Python).</a:t>
            </a:r>
            <a:endParaRPr lang="en-US" sz="1450" dirty="0"/>
          </a:p>
        </p:txBody>
      </p:sp>
      <p:sp>
        <p:nvSpPr>
          <p:cNvPr id="18" name="Text 16"/>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19" name="Text 17"/>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Validacion, tiempo y memoria</a:t>
            </a:r>
            <a:endParaRPr lang="en-US" sz="2700" dirty="0"/>
          </a:p>
        </p:txBody>
      </p:sp>
      <p:pic>
        <p:nvPicPr>
          <p:cNvPr id="5" name="Image 0" descr="/sessions/sweet-focused-cori/mnt/TFM_David_Quinzanos/presentacion/assets/chart_tiempo.png"/>
          <p:cNvPicPr>
            <a:picLocks noChangeAspect="1"/>
          </p:cNvPicPr>
          <p:nvPr/>
        </p:nvPicPr>
        <p:blipFill>
          <a:blip r:embed="rId3"/>
          <a:stretch>
            <a:fillRect/>
          </a:stretch>
        </p:blipFill>
        <p:spPr>
          <a:xfrm>
            <a:off x="548640" y="1727809"/>
            <a:ext cx="7315200" cy="3859582"/>
          </a:xfrm>
          <a:prstGeom prst="rect">
            <a:avLst/>
          </a:prstGeom>
        </p:spPr>
      </p:pic>
      <p:sp>
        <p:nvSpPr>
          <p:cNvPr id="6" name="Text 3"/>
          <p:cNvSpPr/>
          <p:nvPr/>
        </p:nvSpPr>
        <p:spPr>
          <a:xfrm>
            <a:off x="548640" y="5806440"/>
            <a:ext cx="7315200" cy="274320"/>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Tiempo de ejecucion (escala log)</a:t>
            </a:r>
            <a:endParaRPr lang="en-US" sz="1000" dirty="0"/>
          </a:p>
        </p:txBody>
      </p:sp>
      <p:sp>
        <p:nvSpPr>
          <p:cNvPr id="7" name="Shape 4"/>
          <p:cNvSpPr/>
          <p:nvPr/>
        </p:nvSpPr>
        <p:spPr>
          <a:xfrm>
            <a:off x="8092440" y="173736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8" name="Text 5"/>
          <p:cNvSpPr/>
          <p:nvPr/>
        </p:nvSpPr>
        <p:spPr>
          <a:xfrm>
            <a:off x="8275320" y="1828800"/>
            <a:ext cx="3108960" cy="320040"/>
          </a:xfrm>
          <a:prstGeom prst="rect">
            <a:avLst/>
          </a:prstGeom>
          <a:noFill/>
          <a:ln/>
        </p:spPr>
        <p:txBody>
          <a:bodyPr wrap="square" rtlCol="0" anchor="ctr"/>
          <a:lstStyle/>
          <a:p>
            <a:pPr marL="0" indent="0">
              <a:buNone/>
            </a:pPr>
            <a:r>
              <a:rPr lang="en-US" sz="1450" b="1" dirty="0">
                <a:solidFill>
                  <a:srgbClr val="1F7A4D"/>
                </a:solidFill>
                <a:latin typeface="Cambria" pitchFamily="34" charset="0"/>
                <a:ea typeface="Cambria" pitchFamily="34" charset="-122"/>
                <a:cs typeface="Cambria" pitchFamily="34" charset="-120"/>
              </a:rPr>
              <a:t>Validacion</a:t>
            </a:r>
            <a:endParaRPr lang="en-US" sz="1450" dirty="0"/>
          </a:p>
        </p:txBody>
      </p:sp>
      <p:sp>
        <p:nvSpPr>
          <p:cNvPr id="9" name="Text 6"/>
          <p:cNvSpPr/>
          <p:nvPr/>
        </p:nvSpPr>
        <p:spPr>
          <a:xfrm>
            <a:off x="8275320" y="214884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Las 3 implementaciones detectan los mismos modulos vulnerables.</a:t>
            </a:r>
            <a:endParaRPr lang="en-US" sz="1150" dirty="0"/>
          </a:p>
        </p:txBody>
      </p:sp>
      <p:sp>
        <p:nvSpPr>
          <p:cNvPr id="10" name="Shape 7"/>
          <p:cNvSpPr/>
          <p:nvPr/>
        </p:nvSpPr>
        <p:spPr>
          <a:xfrm>
            <a:off x="8092440" y="283464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1" name="Text 8"/>
          <p:cNvSpPr/>
          <p:nvPr/>
        </p:nvSpPr>
        <p:spPr>
          <a:xfrm>
            <a:off x="8275320" y="2926080"/>
            <a:ext cx="3108960" cy="320040"/>
          </a:xfrm>
          <a:prstGeom prst="rect">
            <a:avLst/>
          </a:prstGeom>
          <a:noFill/>
          <a:ln/>
        </p:spPr>
        <p:txBody>
          <a:bodyPr wrap="square" rtlCol="0" anchor="ctr"/>
          <a:lstStyle/>
          <a:p>
            <a:pPr marL="0" indent="0">
              <a:buNone/>
            </a:pPr>
            <a:r>
              <a:rPr lang="en-US" sz="1450" b="1" dirty="0">
                <a:solidFill>
                  <a:srgbClr val="2B4C8C"/>
                </a:solidFill>
                <a:latin typeface="Cambria" pitchFamily="34" charset="0"/>
                <a:ea typeface="Cambria" pitchFamily="34" charset="-122"/>
                <a:cs typeface="Cambria" pitchFamily="34" charset="-120"/>
              </a:rPr>
              <a:t>Algoritmo</a:t>
            </a:r>
            <a:endParaRPr lang="en-US" sz="1450" dirty="0"/>
          </a:p>
        </p:txBody>
      </p:sp>
      <p:sp>
        <p:nvSpPr>
          <p:cNvPr id="12" name="Text 9"/>
          <p:cNvSpPr/>
          <p:nvPr/>
        </p:nvSpPr>
        <p:spPr>
          <a:xfrm>
            <a:off x="8275320" y="324612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Binary Tree (Py) ~ 6,1x sobre el clasico.</a:t>
            </a:r>
            <a:endParaRPr lang="en-US" sz="1150" dirty="0"/>
          </a:p>
        </p:txBody>
      </p:sp>
      <p:sp>
        <p:nvSpPr>
          <p:cNvPr id="13" name="Shape 10"/>
          <p:cNvSpPr/>
          <p:nvPr/>
        </p:nvSpPr>
        <p:spPr>
          <a:xfrm>
            <a:off x="8092440" y="393192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4" name="Text 11"/>
          <p:cNvSpPr/>
          <p:nvPr/>
        </p:nvSpPr>
        <p:spPr>
          <a:xfrm>
            <a:off x="8275320" y="4023360"/>
            <a:ext cx="3108960" cy="320040"/>
          </a:xfrm>
          <a:prstGeom prst="rect">
            <a:avLst/>
          </a:prstGeom>
          <a:noFill/>
          <a:ln/>
        </p:spPr>
        <p:txBody>
          <a:bodyPr wrap="square" rtlCol="0" anchor="ctr"/>
          <a:lstStyle/>
          <a:p>
            <a:pPr marL="0" indent="0">
              <a:buNone/>
            </a:pPr>
            <a:r>
              <a:rPr lang="en-US" sz="1450" b="1" dirty="0">
                <a:solidFill>
                  <a:srgbClr val="7A1426"/>
                </a:solidFill>
                <a:latin typeface="Cambria" pitchFamily="34" charset="0"/>
                <a:ea typeface="Cambria" pitchFamily="34" charset="-122"/>
                <a:cs typeface="Cambria" pitchFamily="34" charset="-120"/>
              </a:rPr>
              <a:t>Implementacion</a:t>
            </a:r>
            <a:endParaRPr lang="en-US" sz="1450" dirty="0"/>
          </a:p>
        </p:txBody>
      </p:sp>
      <p:sp>
        <p:nvSpPr>
          <p:cNvPr id="15" name="Text 12"/>
          <p:cNvSpPr/>
          <p:nvPr/>
        </p:nvSpPr>
        <p:spPr>
          <a:xfrm>
            <a:off x="8275320" y="434340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C++/GMP: 116,5x medio (max 275,3x) sobre el clasico.</a:t>
            </a:r>
            <a:endParaRPr lang="en-US" sz="1150" dirty="0"/>
          </a:p>
        </p:txBody>
      </p:sp>
      <p:sp>
        <p:nvSpPr>
          <p:cNvPr id="16" name="Shape 13"/>
          <p:cNvSpPr/>
          <p:nvPr/>
        </p:nvSpPr>
        <p:spPr>
          <a:xfrm>
            <a:off x="8092440" y="5029200"/>
            <a:ext cx="3429000" cy="1024128"/>
          </a:xfrm>
          <a:prstGeom prst="roundRect">
            <a:avLst>
              <a:gd name="adj" fmla="val 7143"/>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7" name="Text 14"/>
          <p:cNvSpPr/>
          <p:nvPr/>
        </p:nvSpPr>
        <p:spPr>
          <a:xfrm>
            <a:off x="8275320" y="5120640"/>
            <a:ext cx="3108960" cy="320040"/>
          </a:xfrm>
          <a:prstGeom prst="rect">
            <a:avLst/>
          </a:prstGeom>
          <a:noFill/>
          <a:ln/>
        </p:spPr>
        <p:txBody>
          <a:bodyPr wrap="square" rtlCol="0" anchor="ctr"/>
          <a:lstStyle/>
          <a:p>
            <a:pPr marL="0" indent="0">
              <a:buNone/>
            </a:pPr>
            <a:r>
              <a:rPr lang="en-US" sz="1450" b="1" dirty="0">
                <a:solidFill>
                  <a:srgbClr val="13294B"/>
                </a:solidFill>
                <a:latin typeface="Cambria" pitchFamily="34" charset="0"/>
                <a:ea typeface="Cambria" pitchFamily="34" charset="-122"/>
                <a:cs typeface="Cambria" pitchFamily="34" charset="-120"/>
              </a:rPr>
              <a:t>Memoria</a:t>
            </a:r>
            <a:endParaRPr lang="en-US" sz="1450" dirty="0"/>
          </a:p>
        </p:txBody>
      </p:sp>
      <p:sp>
        <p:nvSpPr>
          <p:cNvPr id="18" name="Text 15"/>
          <p:cNvSpPr/>
          <p:nvPr/>
        </p:nvSpPr>
        <p:spPr>
          <a:xfrm>
            <a:off x="8275320" y="5440680"/>
            <a:ext cx="3154680" cy="566928"/>
          </a:xfrm>
          <a:prstGeom prst="rect">
            <a:avLst/>
          </a:prstGeom>
          <a:noFill/>
          <a:ln/>
        </p:spPr>
        <p:txBody>
          <a:bodyPr wrap="square" rtlCol="0" anchor="t"/>
          <a:lstStyle/>
          <a:p>
            <a:pPr marL="0" indent="0">
              <a:buNone/>
            </a:pPr>
            <a:r>
              <a:rPr lang="en-US" sz="1150" dirty="0">
                <a:solidFill>
                  <a:srgbClr val="1F2937"/>
                </a:solidFill>
                <a:latin typeface="Calibri" pitchFamily="34" charset="0"/>
                <a:ea typeface="Calibri" pitchFamily="34" charset="-122"/>
                <a:cs typeface="Calibri" pitchFamily="34" charset="-120"/>
              </a:rPr>
              <a:t>Pico 57,9 MB: -55,0% vs clasico, -38,7% vs Binary Py.</a:t>
            </a:r>
            <a:endParaRPr lang="en-US" sz="1150" dirty="0"/>
          </a:p>
        </p:txBody>
      </p:sp>
      <p:sp>
        <p:nvSpPr>
          <p:cNvPr id="19" name="Text 16"/>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0" name="Text 17"/>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RESULTADOS Y CIERRE</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Datos reales, conclusiones y limitaciones</a:t>
            </a:r>
            <a:endParaRPr lang="en-US" sz="2700" dirty="0"/>
          </a:p>
        </p:txBody>
      </p:sp>
      <p:sp>
        <p:nvSpPr>
          <p:cNvPr id="5" name="Shape 3"/>
          <p:cNvSpPr/>
          <p:nvPr/>
        </p:nvSpPr>
        <p:spPr>
          <a:xfrm>
            <a:off x="640080" y="1828800"/>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6" name="Text 4"/>
          <p:cNvSpPr/>
          <p:nvPr/>
        </p:nvSpPr>
        <p:spPr>
          <a:xfrm>
            <a:off x="822960" y="1920240"/>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54.278</a:t>
            </a:r>
            <a:endParaRPr lang="en-US" sz="2100" dirty="0"/>
          </a:p>
        </p:txBody>
      </p:sp>
      <p:sp>
        <p:nvSpPr>
          <p:cNvPr id="7" name="Text 5"/>
          <p:cNvSpPr/>
          <p:nvPr/>
        </p:nvSpPr>
        <p:spPr>
          <a:xfrm>
            <a:off x="2514600" y="1920240"/>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modulos unicos brutos</a:t>
            </a:r>
            <a:endParaRPr lang="en-US" sz="1200" dirty="0"/>
          </a:p>
        </p:txBody>
      </p:sp>
      <p:sp>
        <p:nvSpPr>
          <p:cNvPr id="8" name="Shape 6"/>
          <p:cNvSpPr/>
          <p:nvPr/>
        </p:nvSpPr>
        <p:spPr>
          <a:xfrm>
            <a:off x="640080" y="2715768"/>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7"/>
          <p:cNvSpPr/>
          <p:nvPr/>
        </p:nvSpPr>
        <p:spPr>
          <a:xfrm>
            <a:off x="822960" y="2807208"/>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54.275</a:t>
            </a:r>
            <a:endParaRPr lang="en-US" sz="2100" dirty="0"/>
          </a:p>
        </p:txBody>
      </p:sp>
      <p:sp>
        <p:nvSpPr>
          <p:cNvPr id="10" name="Text 8"/>
          <p:cNvSpPr/>
          <p:nvPr/>
        </p:nvSpPr>
        <p:spPr>
          <a:xfrm>
            <a:off x="2514600" y="2807208"/>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modulos plausibles</a:t>
            </a:r>
            <a:endParaRPr lang="en-US" sz="1200" dirty="0"/>
          </a:p>
        </p:txBody>
      </p:sp>
      <p:sp>
        <p:nvSpPr>
          <p:cNvPr id="11" name="Shape 9"/>
          <p:cNvSpPr/>
          <p:nvPr/>
        </p:nvSpPr>
        <p:spPr>
          <a:xfrm>
            <a:off x="640080" y="3602736"/>
            <a:ext cx="4114800" cy="786384"/>
          </a:xfrm>
          <a:prstGeom prst="roundRect">
            <a:avLst>
              <a:gd name="adj" fmla="val 930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2" name="Text 10"/>
          <p:cNvSpPr/>
          <p:nvPr/>
        </p:nvSpPr>
        <p:spPr>
          <a:xfrm>
            <a:off x="822960" y="3694176"/>
            <a:ext cx="1691640" cy="566928"/>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0</a:t>
            </a:r>
            <a:endParaRPr lang="en-US" sz="2100" dirty="0"/>
          </a:p>
        </p:txBody>
      </p:sp>
      <p:sp>
        <p:nvSpPr>
          <p:cNvPr id="13" name="Text 11"/>
          <p:cNvSpPr/>
          <p:nvPr/>
        </p:nvSpPr>
        <p:spPr>
          <a:xfrm>
            <a:off x="2514600" y="3694176"/>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factores compartidos no triviales</a:t>
            </a:r>
            <a:endParaRPr lang="en-US" sz="1200" dirty="0"/>
          </a:p>
        </p:txBody>
      </p:sp>
      <p:sp>
        <p:nvSpPr>
          <p:cNvPr id="14" name="Shape 12"/>
          <p:cNvSpPr/>
          <p:nvPr/>
        </p:nvSpPr>
        <p:spPr>
          <a:xfrm>
            <a:off x="640080" y="4489704"/>
            <a:ext cx="4114800" cy="786384"/>
          </a:xfrm>
          <a:prstGeom prst="roundRect">
            <a:avLst>
              <a:gd name="adj" fmla="val 9302"/>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5" name="Text 13"/>
          <p:cNvSpPr/>
          <p:nvPr/>
        </p:nvSpPr>
        <p:spPr>
          <a:xfrm>
            <a:off x="822960" y="4581144"/>
            <a:ext cx="1691640" cy="566928"/>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0</a:t>
            </a:r>
            <a:endParaRPr lang="en-US" sz="2100" dirty="0"/>
          </a:p>
        </p:txBody>
      </p:sp>
      <p:sp>
        <p:nvSpPr>
          <p:cNvPr id="16" name="Text 14"/>
          <p:cNvSpPr/>
          <p:nvPr/>
        </p:nvSpPr>
        <p:spPr>
          <a:xfrm>
            <a:off x="2514600" y="4581144"/>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claves vulnerables</a:t>
            </a:r>
            <a:endParaRPr lang="en-US" sz="1200" dirty="0"/>
          </a:p>
        </p:txBody>
      </p:sp>
      <p:sp>
        <p:nvSpPr>
          <p:cNvPr id="17" name="Shape 15"/>
          <p:cNvSpPr/>
          <p:nvPr/>
        </p:nvSpPr>
        <p:spPr>
          <a:xfrm>
            <a:off x="640080" y="5376672"/>
            <a:ext cx="4114800" cy="786384"/>
          </a:xfrm>
          <a:prstGeom prst="roundRect">
            <a:avLst>
              <a:gd name="adj" fmla="val 9302"/>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18" name="Text 16"/>
          <p:cNvSpPr/>
          <p:nvPr/>
        </p:nvSpPr>
        <p:spPr>
          <a:xfrm>
            <a:off x="822960" y="5468112"/>
            <a:ext cx="1691640" cy="566928"/>
          </a:xfrm>
          <a:prstGeom prst="rect">
            <a:avLst/>
          </a:prstGeom>
          <a:noFill/>
          <a:ln/>
        </p:spPr>
        <p:txBody>
          <a:bodyPr wrap="square" rtlCol="0" anchor="ctr"/>
          <a:lstStyle/>
          <a:p>
            <a:pPr marL="0" indent="0">
              <a:buNone/>
            </a:pPr>
            <a:r>
              <a:rPr lang="en-US" sz="2100" b="1" dirty="0">
                <a:solidFill>
                  <a:srgbClr val="13294B"/>
                </a:solidFill>
                <a:latin typeface="Cambria" pitchFamily="34" charset="0"/>
                <a:ea typeface="Cambria" pitchFamily="34" charset="-122"/>
                <a:cs typeface="Cambria" pitchFamily="34" charset="-120"/>
              </a:rPr>
              <a:t>~ 23,8 s</a:t>
            </a:r>
            <a:endParaRPr lang="en-US" sz="2100" dirty="0"/>
          </a:p>
        </p:txBody>
      </p:sp>
      <p:sp>
        <p:nvSpPr>
          <p:cNvPr id="19" name="Text 17"/>
          <p:cNvSpPr/>
          <p:nvPr/>
        </p:nvSpPr>
        <p:spPr>
          <a:xfrm>
            <a:off x="2514600" y="5468112"/>
            <a:ext cx="2148840" cy="566928"/>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tiempo total del analisis</a:t>
            </a:r>
            <a:endParaRPr lang="en-US" sz="1200" dirty="0"/>
          </a:p>
        </p:txBody>
      </p:sp>
      <p:sp>
        <p:nvSpPr>
          <p:cNvPr id="20" name="Text 18"/>
          <p:cNvSpPr/>
          <p:nvPr/>
        </p:nvSpPr>
        <p:spPr>
          <a:xfrm>
            <a:off x="5029200" y="1783080"/>
            <a:ext cx="6400800" cy="365760"/>
          </a:xfrm>
          <a:prstGeom prst="rect">
            <a:avLst/>
          </a:prstGeom>
          <a:noFill/>
          <a:ln/>
        </p:spPr>
        <p:txBody>
          <a:bodyPr wrap="square" rtlCol="0" anchor="ctr"/>
          <a:lstStyle/>
          <a:p>
            <a:pPr marL="0" indent="0">
              <a:buNone/>
            </a:pPr>
            <a:r>
              <a:rPr lang="en-US" sz="1600" b="1" dirty="0">
                <a:solidFill>
                  <a:srgbClr val="7A1426"/>
                </a:solidFill>
                <a:latin typeface="Cambria" pitchFamily="34" charset="0"/>
                <a:ea typeface="Cambria" pitchFamily="34" charset="-122"/>
                <a:cs typeface="Cambria" pitchFamily="34" charset="-120"/>
              </a:rPr>
              <a:t>Conclusion (prudente)</a:t>
            </a:r>
            <a:endParaRPr lang="en-US" sz="1600" dirty="0"/>
          </a:p>
        </p:txBody>
      </p:sp>
      <p:sp>
        <p:nvSpPr>
          <p:cNvPr id="21" name="Text 19"/>
          <p:cNvSpPr/>
          <p:nvPr/>
        </p:nvSpPr>
        <p:spPr>
          <a:xfrm>
            <a:off x="5029200" y="2194560"/>
            <a:ext cx="6492240" cy="1371600"/>
          </a:xfrm>
          <a:prstGeom prst="rect">
            <a:avLst/>
          </a:prstGeom>
          <a:noFill/>
          <a:ln/>
        </p:spPr>
        <p:txBody>
          <a:bodyPr wrap="square" rtlCol="0" anchor="t"/>
          <a:lstStyle/>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No se hallaron factores compartidos en este subconjunto...</a:t>
            </a:r>
            <a:endParaRPr lang="en-US" sz="1450" dirty="0"/>
          </a:p>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...pero no permite extrapolar a todos los CT logs ni a todo Internet.</a:t>
            </a:r>
            <a:endParaRPr lang="en-US" sz="1450" dirty="0"/>
          </a:p>
        </p:txBody>
      </p:sp>
      <p:sp>
        <p:nvSpPr>
          <p:cNvPr id="22" name="Text 20"/>
          <p:cNvSpPr/>
          <p:nvPr/>
        </p:nvSpPr>
        <p:spPr>
          <a:xfrm>
            <a:off x="5029200" y="3657600"/>
            <a:ext cx="6400800" cy="365760"/>
          </a:xfrm>
          <a:prstGeom prst="rect">
            <a:avLst/>
          </a:prstGeom>
          <a:noFill/>
          <a:ln/>
        </p:spPr>
        <p:txBody>
          <a:bodyPr wrap="square" rtlCol="0" anchor="ctr"/>
          <a:lstStyle/>
          <a:p>
            <a:pPr marL="0" indent="0">
              <a:buNone/>
            </a:pPr>
            <a:r>
              <a:rPr lang="en-US" sz="1600" b="1" dirty="0">
                <a:solidFill>
                  <a:srgbClr val="13294B"/>
                </a:solidFill>
                <a:latin typeface="Cambria" pitchFamily="34" charset="0"/>
                <a:ea typeface="Cambria" pitchFamily="34" charset="-122"/>
                <a:cs typeface="Cambria" pitchFamily="34" charset="-120"/>
              </a:rPr>
              <a:t>Limitaciones y trabajo futuro</a:t>
            </a:r>
            <a:endParaRPr lang="en-US" sz="1600" dirty="0"/>
          </a:p>
        </p:txBody>
      </p:sp>
      <p:sp>
        <p:nvSpPr>
          <p:cNvPr id="23" name="Text 21"/>
          <p:cNvSpPr/>
          <p:nvPr/>
        </p:nvSpPr>
        <p:spPr>
          <a:xfrm>
            <a:off x="5029200" y="4069080"/>
            <a:ext cx="6492240" cy="1737360"/>
          </a:xfrm>
          <a:prstGeom prst="rect">
            <a:avLst/>
          </a:prstGeom>
          <a:noFill/>
          <a:ln/>
        </p:spPr>
        <p:txBody>
          <a:bodyPr wrap="square" rtlCol="0" anchor="t"/>
          <a:lstStyle/>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Conjunto real acotado (issuer/); parrilla sintetica reducida.</a:t>
            </a:r>
            <a:endParaRPr lang="en-US" sz="1450" dirty="0"/>
          </a:p>
          <a:p>
            <a:pPr marL="177800" indent="-1778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Futuro: mas logs y certificados hoja, ejecucion por lotes, distribucion y mas memoria.</a:t>
            </a:r>
            <a:endParaRPr lang="en-US" sz="1450" dirty="0"/>
          </a:p>
        </p:txBody>
      </p:sp>
      <p:sp>
        <p:nvSpPr>
          <p:cNvPr id="24" name="Text 22"/>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Binary Tree Batch GCD sobre CT logs  -  D. Quinzanos Saiz</a:t>
            </a:r>
            <a:endParaRPr lang="en-US" sz="900" dirty="0"/>
          </a:p>
        </p:txBody>
      </p:sp>
      <p:sp>
        <p:nvSpPr>
          <p:cNvPr id="25" name="Text 23"/>
          <p:cNvSpPr/>
          <p:nvPr/>
        </p:nvSpPr>
        <p:spPr>
          <a:xfrm>
            <a:off x="10972800" y="6473952"/>
            <a:ext cx="54864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14400" y="2971800"/>
            <a:ext cx="228600" cy="228600"/>
          </a:xfrm>
          <a:prstGeom prst="ellipse">
            <a:avLst/>
          </a:prstGeom>
          <a:solidFill>
            <a:srgbClr val="7A1426"/>
          </a:solidFill>
          <a:ln/>
        </p:spPr>
        <p:txBody>
          <a:bodyPr/>
          <a:lstStyle/>
          <a:p>
            <a:endParaRPr lang="en-US"/>
          </a:p>
        </p:txBody>
      </p:sp>
      <p:sp>
        <p:nvSpPr>
          <p:cNvPr id="3" name="Text 1"/>
          <p:cNvSpPr/>
          <p:nvPr/>
        </p:nvSpPr>
        <p:spPr>
          <a:xfrm>
            <a:off x="1234440" y="2743200"/>
            <a:ext cx="91440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Material de apoyo</a:t>
            </a:r>
            <a:endParaRPr lang="en-US" sz="3400" dirty="0"/>
          </a:p>
        </p:txBody>
      </p:sp>
      <p:sp>
        <p:nvSpPr>
          <p:cNvPr id="4" name="Text 2"/>
          <p:cNvSpPr/>
          <p:nvPr/>
        </p:nvSpPr>
        <p:spPr>
          <a:xfrm>
            <a:off x="1234440" y="3520440"/>
            <a:ext cx="9144000" cy="457200"/>
          </a:xfrm>
          <a:prstGeom prst="rect">
            <a:avLst/>
          </a:prstGeom>
          <a:noFill/>
          <a:ln/>
        </p:spPr>
        <p:txBody>
          <a:bodyPr wrap="square" rtlCol="0" anchor="ctr"/>
          <a:lstStyle/>
          <a:p>
            <a:pPr marL="0" indent="0">
              <a:buNone/>
            </a:pPr>
            <a:r>
              <a:rPr lang="en-US" sz="1600" dirty="0">
                <a:solidFill>
                  <a:srgbClr val="C8D2E2"/>
                </a:solidFill>
                <a:latin typeface="Calibri" pitchFamily="34" charset="0"/>
                <a:ea typeface="Calibri" pitchFamily="34" charset="-122"/>
                <a:cs typeface="Calibri" pitchFamily="34" charset="-120"/>
              </a:rPr>
              <a:t>Diapositivas de respaldo para preguntas del tribunal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Product/Remainder Tree vs. Binary Tree Batch GCD</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Clasico (product+remainder)</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Binary Tree Batch GCD</a:t>
                      </a:r>
                      <a:endParaRPr lang="en-US" sz="14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Estructura</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Product tree + remainder tree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Solo arbol binario de productos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Remainder tree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Se construye explicitamente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No se construye</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Acumulacion</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Residuos descendentes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GCD en linea -&gt; B = producto de g_j</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Operaciones gcd</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 (via residuos)</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2M - 1</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Complejidad</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Mismo orden asintotico</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itchFamily="34" charset="0"/>
                          <a:ea typeface="Calibri" pitchFamily="34" charset="-122"/>
                          <a:cs typeface="Calibri" pitchFamily="34" charset="-120"/>
                        </a:rPr>
                        <a:t>Mismo orden, menor coste practico</a:t>
                      </a:r>
                      <a:endParaRPr lang="en-US" sz="13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640080" y="5394960"/>
            <a:ext cx="10881360" cy="457200"/>
          </a:xfrm>
          <a:prstGeom prst="rect">
            <a:avLst/>
          </a:prstGeom>
          <a:noFill/>
          <a:ln/>
        </p:spPr>
        <p:txBody>
          <a:bodyPr wrap="square" rtlCol="0" anchor="ctr"/>
          <a:lstStyle/>
          <a:p>
            <a:pPr marL="0" indent="0" algn="ctr">
              <a:buNone/>
            </a:pPr>
            <a:r>
              <a:rPr lang="en-US" sz="1350" i="1" dirty="0">
                <a:solidFill>
                  <a:srgbClr val="6B7280"/>
                </a:solidFill>
                <a:latin typeface="Calibri" pitchFamily="34" charset="0"/>
                <a:ea typeface="Calibri" pitchFamily="34" charset="-122"/>
                <a:cs typeface="Calibri" pitchFamily="34" charset="-120"/>
              </a:rPr>
              <a:t>Idea central: ambos evitan la comparacion par a par; el binario suprime el remainder tree.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Por que '0 vulnerabilidades' tambien es un resultado?</a:t>
            </a:r>
            <a:endParaRPr lang="en-US" sz="2700" dirty="0"/>
          </a:p>
        </p:txBody>
      </p:sp>
      <p:sp>
        <p:nvSpPr>
          <p:cNvPr id="5" name="Text 3"/>
          <p:cNvSpPr/>
          <p:nvPr/>
        </p:nvSpPr>
        <p:spPr>
          <a:xfrm>
            <a:off x="640080" y="1828800"/>
            <a:ext cx="8412480" cy="4023360"/>
          </a:xfrm>
          <a:prstGeom prst="rect">
            <a:avLst/>
          </a:prstGeom>
          <a:noFill/>
          <a:ln/>
        </p:spPr>
        <p:txBody>
          <a:bodyPr wrap="square" rtlCol="0" anchor="t"/>
          <a:lstStyle/>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Confirma que el flujo completo funciona de extremo a extremo sobre datos reales.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Aporta evidencia empirica acotada: en este subconjunto no hay factores compartidos.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Es coherente con la teoria: en condiciones normales, compartir un primo es rarisimo.</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Acota el alcance: no demuestra ausencia de vulnerabilidades en todos los CT logs.</a:t>
            </a:r>
            <a:endParaRPr lang="en-US" sz="1700" dirty="0"/>
          </a:p>
          <a:p>
            <a:pPr marL="177800" indent="-1778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Define una linea base reproducible para auditar conjuntos mayores en el futuro.</a:t>
            </a:r>
            <a:endParaRPr lang="en-US" sz="1700" dirty="0"/>
          </a:p>
        </p:txBody>
      </p:sp>
      <p:pic>
        <p:nvPicPr>
          <p:cNvPr id="6" name="Image 0" descr="/sessions/sweet-focused-cori/mnt/TFM_David_Quinzanos/presentacion/assets/diag_global.png"/>
          <p:cNvPicPr>
            <a:picLocks noChangeAspect="1"/>
          </p:cNvPicPr>
          <p:nvPr/>
        </p:nvPicPr>
        <p:blipFill>
          <a:blip r:embed="rId3"/>
          <a:stretch>
            <a:fillRect/>
          </a:stretch>
        </p:blipFill>
        <p:spPr>
          <a:xfrm>
            <a:off x="9052560" y="2182528"/>
            <a:ext cx="2560320" cy="34073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Cuanto mejora el algoritmo y cuanto C++/GMP?</a:t>
            </a:r>
            <a:endParaRPr lang="en-US" sz="2700" dirty="0"/>
          </a:p>
        </p:txBody>
      </p:sp>
      <p:pic>
        <p:nvPicPr>
          <p:cNvPr id="5" name="Image 0" descr="/sessions/sweet-focused-cori/mnt/TFM_David_Quinzanos/presentacion/assets/benchmark_speedup_cpp.png"/>
          <p:cNvPicPr>
            <a:picLocks noChangeAspect="1"/>
          </p:cNvPicPr>
          <p:nvPr/>
        </p:nvPicPr>
        <p:blipFill>
          <a:blip r:embed="rId3"/>
          <a:stretch>
            <a:fillRect/>
          </a:stretch>
        </p:blipFill>
        <p:spPr>
          <a:xfrm>
            <a:off x="640080" y="1864502"/>
            <a:ext cx="6949440" cy="3951955"/>
          </a:xfrm>
          <a:prstGeom prst="rect">
            <a:avLst/>
          </a:prstGeom>
        </p:spPr>
      </p:pic>
      <p:sp>
        <p:nvSpPr>
          <p:cNvPr id="6" name="Shape 3"/>
          <p:cNvSpPr/>
          <p:nvPr/>
        </p:nvSpPr>
        <p:spPr>
          <a:xfrm>
            <a:off x="7863840" y="2011680"/>
            <a:ext cx="3657600" cy="1554480"/>
          </a:xfrm>
          <a:prstGeom prst="roundRect">
            <a:avLst>
              <a:gd name="adj" fmla="val 4706"/>
            </a:avLst>
          </a:prstGeom>
          <a:solidFill>
            <a:srgbClr val="EEF1F6"/>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7" name="Text 4"/>
          <p:cNvSpPr/>
          <p:nvPr/>
        </p:nvSpPr>
        <p:spPr>
          <a:xfrm>
            <a:off x="8046720" y="2148840"/>
            <a:ext cx="3383280" cy="1371600"/>
          </a:xfrm>
          <a:prstGeom prst="rect">
            <a:avLst/>
          </a:prstGeom>
          <a:noFill/>
          <a:ln/>
        </p:spPr>
        <p:txBody>
          <a:bodyPr wrap="square" rtlCol="0" anchor="ctr"/>
          <a:lstStyle/>
          <a:p>
            <a:pPr marL="0" indent="0">
              <a:buNone/>
            </a:pPr>
            <a:r>
              <a:rPr lang="en-US" sz="2600" b="1" dirty="0">
                <a:solidFill>
                  <a:srgbClr val="2B4C8C"/>
                </a:solidFill>
                <a:latin typeface="Cambria" pitchFamily="34" charset="0"/>
                <a:ea typeface="Cambria" pitchFamily="34" charset="-122"/>
                <a:cs typeface="Cambria" pitchFamily="34" charset="-120"/>
              </a:rPr>
              <a:t>~ 6,1x</a:t>
            </a:r>
            <a:endParaRPr lang="en-US" sz="2600" dirty="0"/>
          </a:p>
          <a:p>
            <a:pPr marL="0" indent="0">
              <a:buNone/>
            </a:pPr>
            <a:r>
              <a:rPr lang="en-US" sz="1200" b="1" dirty="0">
                <a:solidFill>
                  <a:srgbClr val="6B7280"/>
                </a:solidFill>
                <a:latin typeface="Calibri" pitchFamily="34" charset="0"/>
                <a:ea typeface="Calibri" pitchFamily="34" charset="-122"/>
                <a:cs typeface="Calibri" pitchFamily="34" charset="-120"/>
              </a:rPr>
              <a:t>mejora del ALGORITMO</a:t>
            </a:r>
            <a:endParaRPr lang="en-US" sz="2600" dirty="0"/>
          </a:p>
          <a:p>
            <a:pPr marL="0" indent="0">
              <a:buNone/>
            </a:pPr>
            <a:r>
              <a:rPr lang="en-US" sz="1150" dirty="0">
                <a:solidFill>
                  <a:srgbClr val="6B7280"/>
                </a:solidFill>
                <a:latin typeface="Calibri" pitchFamily="34" charset="0"/>
                <a:ea typeface="Calibri" pitchFamily="34" charset="-122"/>
                <a:cs typeface="Calibri" pitchFamily="34" charset="-120"/>
              </a:rPr>
              <a:t>Binary Tree (Py) vs. clasico (Py)</a:t>
            </a:r>
            <a:endParaRPr lang="en-US" sz="2600" dirty="0"/>
          </a:p>
        </p:txBody>
      </p:sp>
      <p:sp>
        <p:nvSpPr>
          <p:cNvPr id="8" name="Shape 5"/>
          <p:cNvSpPr/>
          <p:nvPr/>
        </p:nvSpPr>
        <p:spPr>
          <a:xfrm>
            <a:off x="7863840" y="3749040"/>
            <a:ext cx="3657600" cy="1737360"/>
          </a:xfrm>
          <a:prstGeom prst="roundRect">
            <a:avLst>
              <a:gd name="adj" fmla="val 4211"/>
            </a:avLst>
          </a:prstGeom>
          <a:solidFill>
            <a:srgbClr val="F4ECEE"/>
          </a:solidFill>
          <a:ln w="12700">
            <a:solidFill>
              <a:srgbClr val="D6DBE3"/>
            </a:solidFill>
            <a:prstDash val="solid"/>
          </a:ln>
          <a:effectLst>
            <a:outerShdw blurRad="88900" dist="38100" dir="5400000" algn="bl" rotWithShape="0">
              <a:srgbClr val="000000">
                <a:alpha val="13000"/>
              </a:srgbClr>
            </a:outerShdw>
          </a:effectLst>
        </p:spPr>
        <p:txBody>
          <a:bodyPr/>
          <a:lstStyle/>
          <a:p>
            <a:endParaRPr lang="en-US"/>
          </a:p>
        </p:txBody>
      </p:sp>
      <p:sp>
        <p:nvSpPr>
          <p:cNvPr id="9" name="Text 6"/>
          <p:cNvSpPr/>
          <p:nvPr/>
        </p:nvSpPr>
        <p:spPr>
          <a:xfrm>
            <a:off x="8046720" y="3886200"/>
            <a:ext cx="3383280" cy="1554480"/>
          </a:xfrm>
          <a:prstGeom prst="rect">
            <a:avLst/>
          </a:prstGeom>
          <a:noFill/>
          <a:ln/>
        </p:spPr>
        <p:txBody>
          <a:bodyPr wrap="square" rtlCol="0" anchor="ctr"/>
          <a:lstStyle/>
          <a:p>
            <a:pPr marL="0" indent="0">
              <a:buNone/>
            </a:pPr>
            <a:r>
              <a:rPr lang="en-US" sz="2100" b="1" dirty="0">
                <a:solidFill>
                  <a:srgbClr val="7A1426"/>
                </a:solidFill>
                <a:latin typeface="Cambria" pitchFamily="34" charset="0"/>
                <a:ea typeface="Cambria" pitchFamily="34" charset="-122"/>
                <a:cs typeface="Cambria" pitchFamily="34" charset="-120"/>
              </a:rPr>
              <a:t>18,7x (max 41,3x)</a:t>
            </a:r>
            <a:endParaRPr lang="en-US" sz="2100" dirty="0"/>
          </a:p>
          <a:p>
            <a:pPr marL="0" indent="0">
              <a:buNone/>
            </a:pPr>
            <a:r>
              <a:rPr lang="en-US" sz="1200" b="1" dirty="0">
                <a:solidFill>
                  <a:srgbClr val="6B7280"/>
                </a:solidFill>
                <a:latin typeface="Calibri" pitchFamily="34" charset="0"/>
                <a:ea typeface="Calibri" pitchFamily="34" charset="-122"/>
                <a:cs typeface="Calibri" pitchFamily="34" charset="-120"/>
              </a:rPr>
              <a:t>mejora de IMPLEMENTACION</a:t>
            </a:r>
            <a:endParaRPr lang="en-US" sz="2100" dirty="0"/>
          </a:p>
          <a:p>
            <a:pPr marL="0" indent="0">
              <a:spcAft>
                <a:spcPts val="300"/>
              </a:spcAft>
              <a:buNone/>
            </a:pPr>
            <a:r>
              <a:rPr lang="en-US" sz="1150" dirty="0">
                <a:solidFill>
                  <a:srgbClr val="6B7280"/>
                </a:solidFill>
                <a:latin typeface="Calibri" pitchFamily="34" charset="0"/>
                <a:ea typeface="Calibri" pitchFamily="34" charset="-122"/>
                <a:cs typeface="Calibri" pitchFamily="34" charset="-120"/>
              </a:rPr>
              <a:t>C++/GMP vs. Binary Tree (Py)</a:t>
            </a:r>
            <a:endParaRPr lang="en-US" sz="2100" dirty="0"/>
          </a:p>
          <a:p>
            <a:pPr marL="0" indent="0">
              <a:buNone/>
            </a:pPr>
            <a:r>
              <a:rPr lang="en-US" sz="1150" i="1" dirty="0">
                <a:solidFill>
                  <a:srgbClr val="1F2937"/>
                </a:solidFill>
                <a:latin typeface="Calibri" pitchFamily="34" charset="0"/>
                <a:ea typeface="Calibri" pitchFamily="34" charset="-122"/>
                <a:cs typeface="Calibri" pitchFamily="34" charset="-120"/>
              </a:rPr>
              <a:t>Combinado vs. clasico: 116,5x (max 275,3x)</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Que es un 'modulo plausible'?</a:t>
            </a:r>
            <a:endParaRPr lang="en-US" sz="2700" dirty="0"/>
          </a:p>
        </p:txBody>
      </p:sp>
      <p:sp>
        <p:nvSpPr>
          <p:cNvPr id="5" name="Text 3"/>
          <p:cNvSpPr/>
          <p:nvPr/>
        </p:nvSpPr>
        <p:spPr>
          <a:xfrm>
            <a:off x="640080" y="1828800"/>
            <a:ext cx="5943600" cy="402336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Validacion basica antes del ataque: descartar lo que no puede ser un modulo RSA.</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Se descartan modulos pares y los de longitud por debajo del umbral.</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De 54.278 brutos -&gt; 54.275 plausibles (3 descartados: 2 pares y 1 demasiado corto).</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Mayoria de claves RSA-2048 (53.539); tambien 1024, 3072 y 4096 bits.</a:t>
            </a:r>
            <a:endParaRPr lang="en-US" sz="1600" dirty="0"/>
          </a:p>
        </p:txBody>
      </p:sp>
      <p:pic>
        <p:nvPicPr>
          <p:cNvPr id="6" name="Image 0" descr="/sessions/sweet-focused-cori/mnt/TFM_David_Quinzanos/presentacion/assets/distribucion_bits_modulos.png"/>
          <p:cNvPicPr>
            <a:picLocks noChangeAspect="1"/>
          </p:cNvPicPr>
          <p:nvPr/>
        </p:nvPicPr>
        <p:blipFill>
          <a:blip r:embed="rId3"/>
          <a:stretch>
            <a:fillRect/>
          </a:stretch>
        </p:blipFill>
        <p:spPr>
          <a:xfrm>
            <a:off x="6583680" y="2514600"/>
            <a:ext cx="4937760" cy="24688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Como escalar el trabajo a mas CT logs</a:t>
            </a:r>
            <a:endParaRPr lang="en-US" sz="2700" dirty="0"/>
          </a:p>
        </p:txBody>
      </p:sp>
      <p:sp>
        <p:nvSpPr>
          <p:cNvPr id="5" name="Text 3"/>
          <p:cNvSpPr/>
          <p:nvPr/>
        </p:nvSpPr>
        <p:spPr>
          <a:xfrm>
            <a:off x="640080" y="1828800"/>
            <a:ext cx="7132320" cy="4023360"/>
          </a:xfrm>
          <a:prstGeom prst="rect">
            <a:avLst/>
          </a:prstGeom>
          <a:noFill/>
          <a:ln/>
        </p:spPr>
        <p:txBody>
          <a:bodyPr wrap="square" rtlCol="0" anchor="t"/>
          <a:lstStyle/>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Incorporar mas logs y los certificados hoja de las entradas completas.</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Ejecucion por lotes (batches) y cruce entre bloques, como en el metodo clasico.</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Paralelizar las fases aun secuenciales (agregacion de B).</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Distribucion y entornos con mas memoria para acercarse a la escala de la literatura.</a:t>
            </a:r>
            <a:endParaRPr lang="en-US" sz="1600" dirty="0"/>
          </a:p>
          <a:p>
            <a:pPr marL="177800" indent="-1778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Automatizacion incremental de descarga, extraccion y auditoria.</a:t>
            </a:r>
            <a:endParaRPr lang="en-US" sz="1600" dirty="0"/>
          </a:p>
        </p:txBody>
      </p:sp>
      <p:pic>
        <p:nvPicPr>
          <p:cNvPr id="6" name="Image 0" descr="/sessions/sweet-focused-cori/mnt/TFM_David_Quinzanos/presentacion/assets/chart_escalabilidad.png"/>
          <p:cNvPicPr>
            <a:picLocks noChangeAspect="1"/>
          </p:cNvPicPr>
          <p:nvPr/>
        </p:nvPicPr>
        <p:blipFill>
          <a:blip r:embed="rId3"/>
          <a:stretch>
            <a:fillRect/>
          </a:stretch>
        </p:blipFill>
        <p:spPr>
          <a:xfrm>
            <a:off x="7955280" y="2907864"/>
            <a:ext cx="3566160" cy="19566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85216"/>
            <a:ext cx="155448" cy="155448"/>
          </a:xfrm>
          <a:prstGeom prst="ellipse">
            <a:avLst/>
          </a:prstGeom>
          <a:solidFill>
            <a:srgbClr val="7A1426"/>
          </a:solidFill>
          <a:ln/>
        </p:spPr>
        <p:txBody>
          <a:bodyPr/>
          <a:lstStyle/>
          <a:p>
            <a:endParaRPr lang="en-US"/>
          </a:p>
        </p:txBody>
      </p:sp>
      <p:sp>
        <p:nvSpPr>
          <p:cNvPr id="3" name="Text 1"/>
          <p:cNvSpPr/>
          <p:nvPr/>
        </p:nvSpPr>
        <p:spPr>
          <a:xfrm>
            <a:off x="896112" y="502920"/>
            <a:ext cx="10058400" cy="292608"/>
          </a:xfrm>
          <a:prstGeom prst="rect">
            <a:avLst/>
          </a:prstGeom>
          <a:noFill/>
          <a:ln/>
        </p:spPr>
        <p:txBody>
          <a:bodyPr wrap="square" lIns="0" tIns="0" rIns="0" bIns="0" rtlCol="0" anchor="ctr"/>
          <a:lstStyle/>
          <a:p>
            <a:pPr marL="0" indent="0">
              <a:buNone/>
            </a:pPr>
            <a:r>
              <a:rPr lang="en-US" sz="1250" b="1" kern="0" spc="200" dirty="0">
                <a:solidFill>
                  <a:srgbClr val="7A1426"/>
                </a:solidFill>
                <a:latin typeface="Calibri" pitchFamily="34" charset="0"/>
                <a:ea typeface="Calibri" pitchFamily="34" charset="-122"/>
                <a:cs typeface="Calibri" pitchFamily="34" charset="-120"/>
              </a:rPr>
              <a:t>BACKUP</a:t>
            </a:r>
            <a:endParaRPr lang="en-US" sz="1250" dirty="0"/>
          </a:p>
        </p:txBody>
      </p:sp>
      <p:sp>
        <p:nvSpPr>
          <p:cNvPr id="4" name="Text 2"/>
          <p:cNvSpPr/>
          <p:nvPr/>
        </p:nvSpPr>
        <p:spPr>
          <a:xfrm>
            <a:off x="640080" y="804672"/>
            <a:ext cx="10881360" cy="777240"/>
          </a:xfrm>
          <a:prstGeom prst="rect">
            <a:avLst/>
          </a:prstGeom>
          <a:noFill/>
          <a:ln/>
        </p:spPr>
        <p:txBody>
          <a:bodyPr wrap="square" lIns="0" tIns="0" rIns="0" bIns="0" rtlCol="0" anchor="ctr"/>
          <a:lstStyle/>
          <a:p>
            <a:pPr marL="0" indent="0">
              <a:buNone/>
            </a:pPr>
            <a:r>
              <a:rPr lang="en-US" sz="2700" b="1" dirty="0">
                <a:solidFill>
                  <a:srgbClr val="13294B"/>
                </a:solidFill>
                <a:latin typeface="Cambria" pitchFamily="34" charset="0"/>
                <a:ea typeface="Cambria" pitchFamily="34" charset="-122"/>
                <a:cs typeface="Cambria" pitchFamily="34" charset="-120"/>
              </a:rPr>
              <a:t>Tabla completa de resultados sinteticos</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4766912"/>
        </p:xfrm>
        <a:graphic>
          <a:graphicData uri="http://schemas.openxmlformats.org/drawingml/2006/table">
            <a:tbl>
              <a:tblPr/>
              <a:tblGrid>
                <a:gridCol w="1005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240632">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Bits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WEAK</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C++/GMP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Binary Py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Remainder Py (s)</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Speedup C++</a:t>
                      </a:r>
                      <a:endParaRPr lang="en-US" sz="90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0,196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1,236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9,266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47,3x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0,501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8,353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55,321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110,4x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1,262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32,896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218,123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172,8x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0,198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1,327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9,012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45,5x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0,570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8,815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55,288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97,0x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1,381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33,721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218,579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6"/>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0,406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2,530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9,001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22,2x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0,992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11,834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55,418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55,9x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08"/>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1024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2,220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39,464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218,174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0,411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4,486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35,272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85,8x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0"/>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1,292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32,790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217,923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168,7x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3,139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129,501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864,321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275,3x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2"/>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0,465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4,993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35,315</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75,9x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1,429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34,203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218,786</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153,1x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4"/>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3,368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132,484</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870,017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258,3x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0,917</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9,201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35,440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38,6x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6"/>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2,573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44,440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218,372</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84,9x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240632">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2048</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10000</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5,851</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152,803</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866,819</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tc>
                  <a:txBody>
                    <a:bodyPr/>
                    <a:lstStyle/>
                    <a:p>
                      <a:pPr marL="0" indent="0" algn="ctr">
                        <a:buNone/>
                      </a:pPr>
                      <a:r>
                        <a:rPr lang="en-US" sz="1050" dirty="0">
                          <a:solidFill>
                            <a:srgbClr val="1F2937"/>
                          </a:solidFill>
                          <a:latin typeface="Calibri" pitchFamily="34" charset="0"/>
                          <a:ea typeface="Calibri" pitchFamily="34" charset="-122"/>
                          <a:cs typeface="Calibri" pitchFamily="34" charset="-120"/>
                        </a:rPr>
                        <a:t>148,1x</a:t>
                      </a:r>
                      <a:endParaRPr lang="en-US" sz="1050" dirty="0">
                        <a:latin typeface="Calibri" charset="0"/>
                        <a:ea typeface="Calibri" charset="0"/>
                        <a:cs typeface="Calibri" charset="0"/>
                      </a:endParaRPr>
                    </a:p>
                  </a:txBody>
                  <a:tcPr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A"/>
                    </a:solidFill>
                  </a:tcPr>
                </a:tc>
                <a:extLst>
                  <a:ext uri="{0D108BD9-81ED-4DB2-BD59-A6C34878D82A}">
                    <a16:rowId xmlns:a16="http://schemas.microsoft.com/office/drawing/2014/main" val="1001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3965</Words>
  <Application>Microsoft Macintosh PowerPoint</Application>
  <PresentationFormat>Custom</PresentationFormat>
  <Paragraphs>428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Busqueda de factores RSA compartidos: Binary Tree Batch GCD</dc:title>
  <dc:subject>PptxGenJS Presentation</dc:subject>
  <dc:creator>David Quinzanos Saiz</dc:creator>
  <cp:lastModifiedBy>David Quinzaños Saiz</cp:lastModifiedBy>
  <cp:revision>2</cp:revision>
  <dcterms:created xsi:type="dcterms:W3CDTF">2026-06-24T01:38:55Z</dcterms:created>
  <dcterms:modified xsi:type="dcterms:W3CDTF">2026-06-24T14:29:55Z</dcterms:modified>
</cp:coreProperties>
</file>